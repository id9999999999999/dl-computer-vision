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174D8"/>
                </a:solidFill>
                <a:latin typeface="Aptos"/>
              </a:defRPr>
            </a:pPr>
            <a:r>
              <a:t>IMAGE CLASSIFICATION RESEARCH PROJECT  /  30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550" b="1">
                <a:solidFill>
                  <a:srgbClr val="15243B"/>
                </a:solidFill>
                <a:latin typeface="Aptos"/>
              </a:defRPr>
            </a:pPr>
            <a:r>
              <a:t>Industrial motor defects: supervised binary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67891"/>
                </a:solidFill>
                <a:latin typeface="Aptos"/>
              </a:defRPr>
            </a:pPr>
            <a:r>
              <a:t>Research question: Can Poly-1 loss improve defect recall and macro-F1 over ordinary cross-entropy?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82528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64792"/>
            <a:ext cx="146304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214884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810" b="1">
                <a:solidFill>
                  <a:srgbClr val="667891"/>
                </a:solidFill>
                <a:latin typeface="Aptos"/>
              </a:defRPr>
            </a:pPr>
            <a:r>
              <a:t>CLASSES: Normal / Defective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3" y="1764792"/>
            <a:ext cx="146304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3" y="2075688"/>
            <a:ext cx="214884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810" b="1">
                <a:solidFill>
                  <a:srgbClr val="667891"/>
                </a:solidFill>
                <a:latin typeface="Aptos"/>
              </a:defRPr>
            </a:pPr>
            <a:r>
              <a:t>IMAGES IN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764792"/>
            <a:ext cx="146304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70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075688"/>
            <a:ext cx="214884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810" b="1">
                <a:solidFill>
                  <a:srgbClr val="667891"/>
                </a:solidFill>
                <a:latin typeface="Aptos"/>
              </a:defRPr>
            </a:pPr>
            <a:r>
              <a:t>TRAIN /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1764792"/>
            <a:ext cx="146304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6" y="2075688"/>
            <a:ext cx="214884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810" b="1">
                <a:solidFill>
                  <a:srgbClr val="667891"/>
                </a:solidFill>
                <a:latin typeface="Aptos"/>
              </a:defRPr>
            </a:pPr>
            <a:r>
              <a:t>IMAGE PER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9464"/>
            <a:ext cx="5074920" cy="1865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2569464"/>
            <a:ext cx="5111496" cy="1865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69464"/>
            <a:ext cx="73152" cy="1865376"/>
          </a:xfrm>
          <a:prstGeom prst="rect">
            <a:avLst/>
          </a:prstGeom>
          <a:solidFill>
            <a:srgbClr val="417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2569464"/>
            <a:ext cx="73152" cy="1865376"/>
          </a:xfrm>
          <a:prstGeom prst="rect">
            <a:avLst/>
          </a:prstGeom>
          <a:solidFill>
            <a:srgbClr val="06B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770632"/>
            <a:ext cx="43891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4174D8"/>
                </a:solidFill>
                <a:latin typeface="Aptos"/>
              </a:defRPr>
            </a:pPr>
            <a:r>
              <a:t>BASELINE  •  ALREADY TRAINED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127248"/>
            <a:ext cx="442569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ResNet-18 + Cross-Entropy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538728"/>
            <a:ext cx="449884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67891"/>
                </a:solidFill>
                <a:latin typeface="Aptos"/>
              </a:defRPr>
            </a:pPr>
            <a:r>
              <a:t>ImageNet initialization • 2-class head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667891"/>
                </a:solidFill>
                <a:latin typeface="Aptos"/>
              </a:defRPr>
            </a:pPr>
            <a:r>
              <a:t>448 × 448 RGB • one illumination (I01)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70632"/>
            <a:ext cx="448056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6B6A2"/>
                </a:solidFill>
                <a:latin typeface="Aptos"/>
              </a:defRPr>
            </a:pPr>
            <a:r>
              <a:t>PAPER IDEA  •  CODE IMPLEMENTED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27248"/>
            <a:ext cx="450799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5243B"/>
                </a:solidFill>
                <a:latin typeface="Aptos"/>
              </a:defRPr>
            </a:pPr>
            <a:r>
              <a:t>ResNet-18 + Poly-1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38728"/>
            <a:ext cx="4507992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67891"/>
                </a:solidFill>
                <a:latin typeface="Aptos"/>
              </a:defRPr>
            </a:pPr>
            <a:r>
              <a:t>CE + ε (1 − ptrue), ε = 1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667891"/>
                </a:solidFill>
                <a:latin typeface="Aptos"/>
              </a:defRPr>
            </a:pPr>
            <a:r>
              <a:t>Same split, weights, optimizer &amp; budget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97296" y="3273552"/>
            <a:ext cx="530352" cy="448056"/>
          </a:xfrm>
          <a:prstGeom prst="roundRect">
            <a:avLst>
              <a:gd name="adj" fmla="val 10000"/>
            </a:avLst>
          </a:prstGeom>
          <a:solidFill>
            <a:srgbClr val="1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3328416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08576"/>
            <a:ext cx="3675887" cy="12344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54880"/>
            <a:ext cx="3273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7891"/>
                </a:solidFill>
                <a:latin typeface="Aptos"/>
              </a:defRPr>
            </a:pPr>
            <a:r>
              <a:t>BASELINE PILOT / DEVELOPMENT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056632"/>
            <a:ext cx="324612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10" b="1">
                <a:solidFill>
                  <a:srgbClr val="15243B"/>
                </a:solidFill>
                <a:latin typeface="Aptos"/>
              </a:defRPr>
            </a:pPr>
            <a:r>
              <a:t>96.55% accuracy   •   0.965 macro-F1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422392"/>
            <a:ext cx="32461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75959"/>
                </a:solidFill>
                <a:latin typeface="Aptos"/>
              </a:defRPr>
            </a:pPr>
            <a:r>
              <a:t>Not an independent test result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4608576"/>
            <a:ext cx="7223760" cy="12344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754880"/>
            <a:ext cx="658368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7891"/>
                </a:solidFill>
                <a:latin typeface="Aptos"/>
              </a:defRPr>
            </a:pPr>
            <a:r>
              <a:t>TWO CANDIDATE RESEARCH PAPERS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5038344"/>
            <a:ext cx="6766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15243B"/>
                </a:solidFill>
                <a:latin typeface="Aptos"/>
              </a:defRPr>
            </a:pPr>
            <a:r>
              <a:t>1  PolyLoss — Leng et al., ICLR 2022 (preferred)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5394960"/>
            <a:ext cx="679399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70" b="0">
                <a:solidFill>
                  <a:srgbClr val="15243B"/>
                </a:solidFill>
                <a:latin typeface="Aptos"/>
              </a:defRPr>
            </a:pPr>
            <a:r>
              <a:t>2  Next Generation Loss — Akhmedova &amp; Körber, 2024 (alternative preprint)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099048"/>
            <a:ext cx="12191695" cy="758952"/>
          </a:xfrm>
          <a:prstGeom prst="rect">
            <a:avLst/>
          </a:prstGeom>
          <a:solidFill>
            <a:srgbClr val="0E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6300216"/>
            <a:ext cx="11027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NEXT  →  retrieve 95 missing images  •  train CE vs Poly-1  •  evaluate macro-F1 / defect recall  •  check specimen leakage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