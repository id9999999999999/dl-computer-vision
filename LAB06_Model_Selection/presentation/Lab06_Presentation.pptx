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d7a152753054d34" /><Relationship Type="http://schemas.openxmlformats.org/officeDocument/2006/relationships/extended-properties" Target="/docProps/app.xml" Id="Ra32c2528bb4e42aa" /><Relationship Type="http://schemas.openxmlformats.org/officeDocument/2006/relationships/officeDocument" Target="/ppt/presentation.xml" Id="R8fdbc305eadd4ed7" /></Relationships>
</file>

<file path=ppt/presentation.xml><?xml version="1.0" encoding="utf-8"?>
<p:presentation xmlns:p="http://schemas.openxmlformats.org/presentationml/2006/main">
  <p:sldMasterIdLst>
    <p:sldMasterId xmlns:r="http://schemas.openxmlformats.org/officeDocument/2006/relationships" id="2147483648" r:id="R98f307db4f134355"/>
  </p:sldMasterIdLst>
  <p:notesMasterIdLst>
    <p:notesMasterId xmlns:r="http://schemas.openxmlformats.org/officeDocument/2006/relationships" r:id="R6bf20f92a22c4999"/>
  </p:notesMasterIdLst>
  <p:sldIdLst>
    <p:sldId xmlns:r="http://schemas.openxmlformats.org/officeDocument/2006/relationships" id="256" r:id="Rc65763256aab4f51"/>
    <p:sldId xmlns:r="http://schemas.openxmlformats.org/officeDocument/2006/relationships" id="257" r:id="R82e061b110984b6b"/>
    <p:sldId xmlns:r="http://schemas.openxmlformats.org/officeDocument/2006/relationships" id="258" r:id="R5d40eefc49d34c36"/>
    <p:sldId xmlns:r="http://schemas.openxmlformats.org/officeDocument/2006/relationships" id="259" r:id="R5196f4dcdc174ec3"/>
    <p:sldId xmlns:r="http://schemas.openxmlformats.org/officeDocument/2006/relationships" id="260" r:id="Rc446738b5b7841f5"/>
    <p:sldId xmlns:r="http://schemas.openxmlformats.org/officeDocument/2006/relationships" id="261" r:id="R01f088d504c34c29"/>
    <p:sldId xmlns:r="http://schemas.openxmlformats.org/officeDocument/2006/relationships" id="262" r:id="Red849e72a0be4848"/>
    <p:sldId xmlns:r="http://schemas.openxmlformats.org/officeDocument/2006/relationships" id="263" r:id="Rc808a579a5c24e8e"/>
    <p:sldId xmlns:r="http://schemas.openxmlformats.org/officeDocument/2006/relationships" id="264" r:id="R7c375875e40b4122"/>
    <p:sldId xmlns:r="http://schemas.openxmlformats.org/officeDocument/2006/relationships" id="265" r:id="R7a3b7492e069466a"/>
    <p:sldId xmlns:r="http://schemas.openxmlformats.org/officeDocument/2006/relationships" id="266" r:id="Rd6ac9c81a62345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f76cf0c9c04921" /><Relationship Type="http://schemas.openxmlformats.org/officeDocument/2006/relationships/slideMaster" Target="/ppt/slideMasters/slideMaster1.xml" Id="R98f307db4f134355" /><Relationship Type="http://schemas.openxmlformats.org/officeDocument/2006/relationships/notesMaster" Target="/ppt/notesMasters/notesMaster1.xml" Id="R6bf20f92a22c4999" /><Relationship Type="http://schemas.openxmlformats.org/officeDocument/2006/relationships/presProps" Target="/ppt/presProps.xml" Id="R369e22701371413c" /><Relationship Type="http://schemas.openxmlformats.org/officeDocument/2006/relationships/tableStyles" Target="/ppt/tableStyles.xml" Id="R4e9b250642e04154" /><Relationship Type="http://schemas.openxmlformats.org/officeDocument/2006/relationships/slide" Target="/ppt/slides/slide1.xml" Id="Rc65763256aab4f51" /><Relationship Type="http://schemas.openxmlformats.org/officeDocument/2006/relationships/slide" Target="/ppt/slides/slide2.xml" Id="R82e061b110984b6b" /><Relationship Type="http://schemas.openxmlformats.org/officeDocument/2006/relationships/slide" Target="/ppt/slides/slide3.xml" Id="R5d40eefc49d34c36" /><Relationship Type="http://schemas.openxmlformats.org/officeDocument/2006/relationships/slide" Target="/ppt/slides/slide4.xml" Id="R5196f4dcdc174ec3" /><Relationship Type="http://schemas.openxmlformats.org/officeDocument/2006/relationships/slide" Target="/ppt/slides/slide5.xml" Id="Rc446738b5b7841f5" /><Relationship Type="http://schemas.openxmlformats.org/officeDocument/2006/relationships/slide" Target="/ppt/slides/slide6.xml" Id="R01f088d504c34c29" /><Relationship Type="http://schemas.openxmlformats.org/officeDocument/2006/relationships/slide" Target="/ppt/slides/slide7.xml" Id="Red849e72a0be4848" /><Relationship Type="http://schemas.openxmlformats.org/officeDocument/2006/relationships/slide" Target="/ppt/slides/slide8.xml" Id="Rc808a579a5c24e8e" /><Relationship Type="http://schemas.openxmlformats.org/officeDocument/2006/relationships/slide" Target="/ppt/slides/slide9.xml" Id="R7c375875e40b4122" /><Relationship Type="http://schemas.openxmlformats.org/officeDocument/2006/relationships/slide" Target="/ppt/slides/slide10.xml" Id="R7a3b7492e069466a" /><Relationship Type="http://schemas.openxmlformats.org/officeDocument/2006/relationships/slide" Target="/ppt/slides/slide11.xml" Id="Rd6ac9c81a62345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7784b9713846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07ac1414994fd1" /><Relationship Type="http://schemas.openxmlformats.org/officeDocument/2006/relationships/notesMaster" Target="/ppt/notesMasters/notesMaster1.xml" Id="R76fdacf56f954a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151a8b728f4278" /><Relationship Type="http://schemas.openxmlformats.org/officeDocument/2006/relationships/notesMaster" Target="/ppt/notesMasters/notesMaster1.xml" Id="Rd0f87a28242c4b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1948b40d514998" /><Relationship Type="http://schemas.openxmlformats.org/officeDocument/2006/relationships/notesMaster" Target="/ppt/notesMasters/notesMaster1.xml" Id="Rd1d34ff98fe641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35196e5e654140" /><Relationship Type="http://schemas.openxmlformats.org/officeDocument/2006/relationships/notesMaster" Target="/ppt/notesMasters/notesMaster1.xml" Id="R86cdc24e84d546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d60e2aa4df4290" /><Relationship Type="http://schemas.openxmlformats.org/officeDocument/2006/relationships/notesMaster" Target="/ppt/notesMasters/notesMaster1.xml" Id="R41fe4e3f1c414b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c43de3b55548b8" /><Relationship Type="http://schemas.openxmlformats.org/officeDocument/2006/relationships/notesMaster" Target="/ppt/notesMasters/notesMaster1.xml" Id="R2efc7f8426da4a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96f359f9ac4410" /><Relationship Type="http://schemas.openxmlformats.org/officeDocument/2006/relationships/notesMaster" Target="/ppt/notesMasters/notesMaster1.xml" Id="R1d41e5e882cd4b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641719f9584416" /><Relationship Type="http://schemas.openxmlformats.org/officeDocument/2006/relationships/notesMaster" Target="/ppt/notesMasters/notesMaster1.xml" Id="R58bee05a604d44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e2fd8d272140d5" /><Relationship Type="http://schemas.openxmlformats.org/officeDocument/2006/relationships/notesMaster" Target="/ppt/notesMasters/notesMaster1.xml" Id="R033b8733160b4a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79eb78978c40b9" /><Relationship Type="http://schemas.openxmlformats.org/officeDocument/2006/relationships/notesMaster" Target="/ppt/notesMasters/notesMaster1.xml" Id="Rd1f8758459324f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bef5e1ce914a9c" /><Relationship Type="http://schemas.openxmlformats.org/officeDocument/2006/relationships/notesMaster" Target="/ppt/notesMasters/notesMaster1.xml" Id="R96ede0473b8d4e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This lab compares four pretrained image classifiers for a document-quality gate. The task is to accept usable images and catch defective captures before further processing. I use a grouped holdout and a validation-based selection rule, then characterize the chosen model on the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The dataset contains eighteen hundred synthetic images from three hundred source documents. Each source produces three good and three bad variants. The source document is the split unit, so variants of the same document cannot appear in training and test. The exact split is seventy, fifteen and fifteen percent, stratified by document family. The held-out test contains only forty-five independent source documents, so its two hundred and seventy images are correlated.</a:t>
            </a:r>
          </a:p>
          <a:p xmlns:a="http://schemas.openxmlformats.org/drawingml/2006/main">
            <a:r>
              <a:t/>
            </a:r>
          </a:p>
          <a:p xmlns:a="http://schemas.openxmlformats.org/drawingml/2006/main">
            <a:r>
              <a:t>Sources: results/manifest.json and results/protocol.json. The review checked source IDs and recorded SHA256 values across partitions.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MobileNetV2 and EfficientNetB0 keep their ImageNet feature extractors frozen and train the same binary head. The two YOLO classification variants fine-tune the full model. All candidates receive the whole document at two hundred and twenty-four pixels square. Model-specific scaling stays explicit. I avoid extra cropping or erasing because it can hide or change quality defects. These are practical pipeline comparisons, with different optimization regimes, rather than a controlled architecture-only experiment.</a:t>
            </a:r>
          </a:p>
          <a:p xmlns:a="http://schemas.openxmlformats.org/drawingml/2006/main">
            <a:r>
              <a:t/>
            </a:r>
          </a:p>
          <a:p xmlns:a="http://schemas.openxmlformats.org/drawingml/2006/main">
            <a:r>
              <a:t>Sources: lab06.py, config.json and model training.json files. Keras head: GAP, Dense 128 ReLU, dropout, sigmoid. MobileNet scaling −1 to 1, EfficientNet built-in rescaling from 0 to 255, YOLO tensor scaling 0 to 1. YOLO uses its recorded warm-up schedule. Architecture references are in docs/Model_Selection_Memo.md.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All four models classify every good test image correctly. Their errors are defective images accepted as good. MobileNetV2 has the highest measured test accuracy, with one error, followed by YOLO small with two. Nano and EfficientNet each miss three bad images. One image changes accuracy by about zero point three seven percentage points. These small differences on forty-five test sources do not establish a reliable general ranking. I do not select a model from this test table.</a:t>
            </a:r>
          </a:p>
          <a:p xmlns:a="http://schemas.openxmlformats.org/drawingml/2006/main">
            <a:r>
              <a:t/>
            </a:r>
          </a:p>
          <a:p xmlns:a="http://schemas.openxmlformats.org/drawingml/2006/main">
            <a:r>
              <a:t>Sources: all four results/*/evaluation.json files. Precision, recall and F1 use bad as the positive class. All table values have been recomputed from saved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This chart combines final test accuracy with the separately measured CPU cost. Nano takes about twenty-seven milliseconds per image, MobileNet about thirty-eight, and the other two exceed the declared fifty-millisecond mean budget. Every timing uses batch one, four configured threads, twenty warm-up calls and one hundred measured calls. The scope includes preprocessing and inference on an already decoded image. The much lower GPU timings in the training logs measure a different device and scope.</a:t>
            </a:r>
          </a:p>
          <a:p xmlns:a="http://schemas.openxmlformats.org/drawingml/2006/main">
            <a:r>
              <a:t/>
            </a:r>
          </a:p>
          <a:p xmlns:a="http://schemas.openxmlformats.org/drawingml/2006/main">
            <a:r>
              <a:t>Sources: results/*/evaluation.json, including the 100 raw latency samples per model. Host load and different frameworks remain limitations. Selection uses validation metrics and cost, despite the test characterization on this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MobileNet training and validation loss decrease overall, although validation fluctuates. Its best validation loss occurs at epoch fifteen. Nano also shows decreasing losses and reaches its best validation top-one accuracy first at epoch seven. Patience stops the run after eleven epochs. YOLO chooses by validation fitness, so a later improvement in loss does not necessarily replace its checkpoint. EfficientNet shows unstable late validation loss and uses its best epoch-eleven checkpoint. Top-five accuracy is uninformative for two classes.</a:t>
            </a:r>
          </a:p>
          <a:p xmlns:a="http://schemas.openxmlformats.org/drawingml/2006/main">
            <a:r>
              <a:t/>
            </a:r>
          </a:p>
          <a:p xmlns:a="http://schemas.openxmlformats.org/drawingml/2006/main">
            <a:r>
              <a:t>Sources: results/mobilenetv2/history.json and results/yolov8n/results.csv. EfficientNet and YOLO small curves appear in the appendix. Loss scales and regimes differ, so compare trends within each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The selected nano model misses three of the twenty-eight glare examples, so glare recall is about eighty-nine percent. It detects every measured example of the other four defects, but those subsets contain only twenty-five to twenty-nine images each. In these false accepts, glare covers part of the portrait or printed fields. One defective image receives a bad probability of only zero point zero zero three. High aggregate accuracy therefore does not guarantee a safe quality gate. This result motivates a future glare-focused experiment on fresh held-out data.</a:t>
            </a:r>
          </a:p>
          <a:p xmlns:a="http://schemas.openxmlformats.org/drawingml/2006/main">
            <a:r>
              <a:t/>
            </a:r>
          </a:p>
          <a:p xmlns:a="http://schemas.openxmlformats.org/drawingml/2006/main">
            <a:r>
              <a:t>Sources: results/yolov8n/failure_gallery.png, predictions.json and results/defect_analysis.csv. The examples are synthetic training documents, as marked in their image text. The gallery is supplied evidence and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The predeclared rule selects the fastest candidate meeting all validation and cost gates. Nano passes, with validation bad recall of ninety-eight point five two percent and mean CPU latency of twenty-six point nine seven milliseconds. Its checkpoint is two point eight three mebibytes. MobileNet also passes and remains the measured alternative when accuracy matters more than the lowest latency. The other candidates exceed the mean CPU budget in this run. The numerical gates are provisional project targets. Before deployment, real captures and unfamiliar documents need separate validation. I keep the test set fixed and do not tune against these results.</a:t>
            </a:r>
          </a:p>
          <a:p xmlns:a="http://schemas.openxmlformats.org/drawingml/2006/main">
            <a:r>
              <a:t/>
            </a:r>
          </a:p>
          <a:p xmlns:a="http://schemas.openxmlformats.org/drawingml/2006/main">
            <a:r>
              <a:t>Sources: results/protocol.json, decision.json and evaluation.json files. Both MobileNetV2 and YOLOv8n pass. The gates are engineering assumptions, not teacher-specified deployment requirements. The test set does not trigger reselection.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Use this table if asked about artifact size, parameter counts or total training time. Keras files can include optimizer state while YOLO strips it. Parameters describe saved unfused models. Early stopping makes total training times unequal budgets.</a:t>
            </a:r>
          </a:p>
          <a:p xmlns:a="http://schemas.openxmlformats.org/drawingml/2006/main">
            <a:r>
              <a:t/>
            </a:r>
          </a:p>
          <a:p xmlns:a="http://schemas.openxmlformats.org/drawingml/2006/main">
            <a:r>
              <a:t>Sources: results/*/evaluation.json and run.log. File sizes measure practical serialized checkpoints, not identical weight formats.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Rows are true labels and columns are predicted labels. Good is zero and bad is one. Every off-diagonal count is a bad image classified as good, so every observed error is a false accept.</a:t>
            </a:r>
          </a:p>
          <a:p xmlns:a="http://schemas.openxmlformats.org/drawingml/2006/main">
            <a:r>
              <a:t/>
            </a:r>
          </a:p>
          <a:p xmlns:a="http://schemas.openxmlformats.org/drawingml/2006/main">
            <a:r>
              <a:t>Sources: results/*/evaluation.json. Counts independently recomputed from each saved predictions.json.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EfficientNet reaches its lowest validation loss at epoch eleven. Its later spikes indicate instability and possible overfitting, rather than a proven cause. YOLO small reaches its best top-one level at epoch three and stops at epoch seven. Its later loss decrease does not override the validation-fitness checkpoint rule.</a:t>
            </a:r>
          </a:p>
          <a:p xmlns:a="http://schemas.openxmlformats.org/drawingml/2006/main">
            <a:r>
              <a:t/>
            </a:r>
          </a:p>
          <a:p xmlns:a="http://schemas.openxmlformats.org/drawingml/2006/main">
            <a:r>
              <a:t>Sources: results/efficientnetb0/history.json, results/yolov8s/results.csv and run.log.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23208056d04c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a806fedef840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8667fe9d1b4d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980988468447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4d6282a43842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d9a0eab5ad4c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CA0DA9-06D9-4BE9-97E8-602C9D781E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A8BE3D-617B-4832-898E-75656272D6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156879-BB13-47B0-99A7-17E92417D6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1CC530-AD52-4465-8A55-8E4DD9DEAD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D79A57-5BB1-4FD7-B655-F97278BE3B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53A2E1-5F92-4A71-B20A-8BD6FB52D2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0A39D8-109D-4319-8ACE-DDD32B1DF5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072C6E-8057-4190-9798-4EF7901E91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03A4B7-0B6A-48B1-8138-F06D2B90D2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68425-54DB-4F7A-85F6-6DC6333084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8c33bc9d8e4b44" /><Relationship Type="http://schemas.openxmlformats.org/officeDocument/2006/relationships/slideLayout" Target="/ppt/slideLayouts/slideLayout1.xml" Id="R9048a6642b3b4d63" /><Relationship Type="http://schemas.openxmlformats.org/officeDocument/2006/relationships/slideLayout" Target="/ppt/slideLayouts/slideLayout2.xml" Id="R8edb1e7c091248e6" /><Relationship Type="http://schemas.openxmlformats.org/officeDocument/2006/relationships/slideLayout" Target="/ppt/slideLayouts/slideLayout3.xml" Id="Re47b924b5b05461d" /><Relationship Type="http://schemas.openxmlformats.org/officeDocument/2006/relationships/slideLayout" Target="/ppt/slideLayouts/slideLayout4.xml" Id="R980e366a305240c8" /><Relationship Type="http://schemas.openxmlformats.org/officeDocument/2006/relationships/slideLayout" Target="/ppt/slideLayouts/slideLayout5.xml" Id="Rc7cd11233b694ccb" /><Relationship Type="http://schemas.openxmlformats.org/officeDocument/2006/relationships/slideLayout" Target="/ppt/slideLayouts/slideLayout6.xml" Id="Rb34d1864918140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8a6642b3b4d63"/>
    <p:sldLayoutId xmlns:r="http://schemas.openxmlformats.org/officeDocument/2006/relationships" id="2147483650" r:id="R8edb1e7c091248e6"/>
    <p:sldLayoutId xmlns:r="http://schemas.openxmlformats.org/officeDocument/2006/relationships" id="2147483651" r:id="Re47b924b5b05461d"/>
    <p:sldLayoutId xmlns:r="http://schemas.openxmlformats.org/officeDocument/2006/relationships" id="2147483652" r:id="R980e366a305240c8"/>
    <p:sldLayoutId xmlns:r="http://schemas.openxmlformats.org/officeDocument/2006/relationships" id="2147483653" r:id="Rc7cd11233b694ccb"/>
    <p:sldLayoutId xmlns:r="http://schemas.openxmlformats.org/officeDocument/2006/relationships" id="2147483654" r:id="Rb34d1864918140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77ca26554a4d03" /><Relationship Type="http://schemas.openxmlformats.org/officeDocument/2006/relationships/notesSlide" Target="/ppt/notesSlides/notesSlide1.xml" Id="Rcb3f278eeb7e4e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1a5d77e6a04169" /><Relationship Type="http://schemas.openxmlformats.org/officeDocument/2006/relationships/notesSlide" Target="/ppt/notesSlides/notesSlide2.xml" Id="R13c49b5fc9764d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3c2911aedc407e" /><Relationship Type="http://schemas.openxmlformats.org/officeDocument/2006/relationships/notesSlide" Target="/ppt/notesSlides/notesSlide3.xml" Id="Rcafb0787d6aa4c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11399b72e9417d" /><Relationship Type="http://schemas.openxmlformats.org/officeDocument/2006/relationships/notesSlide" Target="/ppt/notesSlides/notesSlide4.xml" Id="R02a6f150481043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edff1e70e9416b" /><Relationship Type="http://schemas.openxmlformats.org/officeDocument/2006/relationships/chart" Target="/ppt/slides/charts/chart1.xml" Id="R330dccd0ff814994" /><Relationship Type="http://schemas.openxmlformats.org/officeDocument/2006/relationships/notesSlide" Target="/ppt/notesSlides/notesSlide5.xml" Id="R3b89436b43bc42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1a6dc503e74c13" /><Relationship Type="http://schemas.openxmlformats.org/officeDocument/2006/relationships/chart" Target="/ppt/slides/charts/chart2.xml" Id="R5b21131b94154f44" /><Relationship Type="http://schemas.openxmlformats.org/officeDocument/2006/relationships/chart" Target="/ppt/slides/charts/chart3.xml" Id="Rd461afccc1e0484a" /><Relationship Type="http://schemas.openxmlformats.org/officeDocument/2006/relationships/notesSlide" Target="/ppt/notesSlides/notesSlide6.xml" Id="Rfe0b92740e1841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e8fa2c1d124bac" /><Relationship Type="http://schemas.openxmlformats.org/officeDocument/2006/relationships/image" Target="/ppt/media/image.png" Id="Rb124321bc71d4756" /><Relationship Type="http://schemas.openxmlformats.org/officeDocument/2006/relationships/notesSlide" Target="/ppt/notesSlides/notesSlide7.xml" Id="Rddc3626d967a42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0fdab9b5754d79" /><Relationship Type="http://schemas.openxmlformats.org/officeDocument/2006/relationships/notesSlide" Target="/ppt/notesSlides/notesSlide8.xml" Id="R73410eb81e884f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d67fc6db5e4838" /><Relationship Type="http://schemas.openxmlformats.org/officeDocument/2006/relationships/notesSlide" Target="/ppt/notesSlides/notesSlide9.xml" Id="R93467e69d5ce41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ea94bbc33b4b90" /><Relationship Type="http://schemas.openxmlformats.org/officeDocument/2006/relationships/notesSlide" Target="/ppt/notesSlides/notesSlide10.xml" Id="Rdf981821518a49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17aff5f82142f9" /><Relationship Type="http://schemas.openxmlformats.org/officeDocument/2006/relationships/chart" Target="/ppt/slides/charts/chart4.xml" Id="Ra4f2b526928148b5" /><Relationship Type="http://schemas.openxmlformats.org/officeDocument/2006/relationships/chart" Target="/ppt/slides/charts/chart5.xml" Id="R3c899142e1e84828" /><Relationship Type="http://schemas.openxmlformats.org/officeDocument/2006/relationships/notesSlide" Target="/ppt/notesSlides/notesSlide11.xml" Id="R7b6ebe5db4ce49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MobileNetV2</c:v>
          </c:tx>
          <c:marker>
            <c:symbol val="circle"/>
            <c:size val="12"/>
            <c:spPr>
              <a:solidFill xmlns:a="http://schemas.openxmlformats.org/drawingml/2006/main">
                <a:srgbClr val="172B4D"/>
              </a:solidFill>
            </c:spPr>
          </c:marker>
          <c:dLbls>
            <c:txPr>
              <a:bodyPr xmlns:a="http://schemas.openxmlformats.org/drawingml/2006/main" anchorCtr="1"/>
              <a:lstStyle xmlns:a="http://schemas.openxmlformats.org/drawingml/2006/main"/>
              <a:p xmlns:a="http://schemas.openxmlformats.org/drawingml/2006/main">
                <a:pPr>
                  <a:defRPr sz="1350">
                    <a:solidFill>
                      <a:srgbClr val="172B4D"/>
                    </a:solidFill>
                    <a:latin typeface="DejaVu Sans"/>
                    <a:ea typeface="DejaVu Sans"/>
                    <a:cs typeface="DejaVu Sans"/>
                  </a:defRPr>
                </a:pPr>
              </a:p>
            </c:txPr>
            <c:dLblPos val="t"/>
            <c:showLegendKey val="0"/>
            <c:showVal val="0"/>
            <c:showCatName val="0"/>
            <c:showSerName val="1"/>
            <c:showPercent val="0"/>
            <c:showBubbleSize val="0"/>
            <c:showLeaderLines val="0"/>
          </c:dLbls>
          <c:xVal>
            <c:numRef>
              <c:f>'Chart Data'!$A$2:$A$2</c:f>
              <c:numCache>
                <c:formatCode>General</c:formatCode>
                <c:ptCount val="1"/>
                <c:pt idx="0">
                  <c:v>37.69251599</c:v>
                </c:pt>
              </c:numCache>
            </c:numRef>
          </c:xVal>
          <c:yVal>
            <c:numRef>
              <c:f>'Chart Data'!$B$2:$B$2</c:f>
              <c:numCache>
                <c:formatCode>0.0%</c:formatCode>
                <c:ptCount val="1"/>
                <c:pt idx="0">
                  <c:v>0.9962963</c:v>
                </c:pt>
              </c:numCache>
            </c:numRef>
          </c:yVal>
        </c:ser>
        <c:ser>
          <c:idx val="1"/>
          <c:order val="1"/>
          <c:tx>
            <c:v>EfficientNetB0</c:v>
          </c:tx>
          <c:marker>
            <c:symbol val="circle"/>
            <c:size val="12"/>
            <c:spPr>
              <a:solidFill xmlns:a="http://schemas.openxmlformats.org/drawingml/2006/main">
                <a:srgbClr val="BB551B"/>
              </a:solidFill>
            </c:spPr>
          </c:marker>
          <c:dLbls>
            <c:txPr>
              <a:bodyPr xmlns:a="http://schemas.openxmlformats.org/drawingml/2006/main" anchorCtr="1"/>
              <a:lstStyle xmlns:a="http://schemas.openxmlformats.org/drawingml/2006/main"/>
              <a:p xmlns:a="http://schemas.openxmlformats.org/drawingml/2006/main">
                <a:pPr>
                  <a:defRPr sz="1350">
                    <a:solidFill>
                      <a:srgbClr val="BB551B"/>
                    </a:solidFill>
                    <a:latin typeface="DejaVu Sans"/>
                    <a:ea typeface="DejaVu Sans"/>
                    <a:cs typeface="DejaVu Sans"/>
                  </a:defRPr>
                </a:pPr>
              </a:p>
            </c:txPr>
            <c:dLblPos val="l"/>
            <c:showLegendKey val="0"/>
            <c:showVal val="0"/>
            <c:showCatName val="0"/>
            <c:showSerName val="1"/>
            <c:showPercent val="0"/>
            <c:showBubbleSize val="0"/>
            <c:showLeaderLines val="0"/>
          </c:dLbls>
          <c:xVal>
            <c:numRef>
              <c:f>'Chart Data'!$C$2:$C$2</c:f>
              <c:numCache>
                <c:formatCode>General</c:formatCode>
                <c:ptCount val="1"/>
                <c:pt idx="0">
                  <c:v>56.68877289</c:v>
                </c:pt>
              </c:numCache>
            </c:numRef>
          </c:xVal>
          <c:yVal>
            <c:numRef>
              <c:f>'Chart Data'!$D$2:$D$2</c:f>
              <c:numCache>
                <c:formatCode>0.0%</c:formatCode>
                <c:ptCount val="1"/>
                <c:pt idx="0">
                  <c:v>0.98888889</c:v>
                </c:pt>
              </c:numCache>
            </c:numRef>
          </c:yVal>
        </c:ser>
        <c:ser>
          <c:idx val="2"/>
          <c:order val="2"/>
          <c:tx>
            <c:v>YOLOv8n-cls</c:v>
          </c:tx>
          <c:marker>
            <c:symbol val="circle"/>
            <c:size val="12"/>
            <c:spPr>
              <a:solidFill xmlns:a="http://schemas.openxmlformats.org/drawingml/2006/main">
                <a:srgbClr val="006D77"/>
              </a:solidFill>
            </c:spPr>
          </c:marker>
          <c:dLbls>
            <c:txPr>
              <a:bodyPr xmlns:a="http://schemas.openxmlformats.org/drawingml/2006/main" anchorCtr="1"/>
              <a:lstStyle xmlns:a="http://schemas.openxmlformats.org/drawingml/2006/main"/>
              <a:p xmlns:a="http://schemas.openxmlformats.org/drawingml/2006/main">
                <a:pPr>
                  <a:defRPr sz="1350">
                    <a:solidFill>
                      <a:srgbClr val="006D77"/>
                    </a:solidFill>
                    <a:latin typeface="DejaVu Sans"/>
                    <a:ea typeface="DejaVu Sans"/>
                    <a:cs typeface="DejaVu Sans"/>
                  </a:defRPr>
                </a:pPr>
              </a:p>
            </c:txPr>
            <c:dLblPos val="t"/>
            <c:showLegendKey val="0"/>
            <c:showVal val="0"/>
            <c:showCatName val="0"/>
            <c:showSerName val="1"/>
            <c:showPercent val="0"/>
            <c:showBubbleSize val="0"/>
            <c:showLeaderLines val="0"/>
          </c:dLbls>
          <c:xVal>
            <c:numRef>
              <c:f>'Chart Data'!$E$2:$E$2</c:f>
              <c:numCache>
                <c:formatCode>General</c:formatCode>
                <c:ptCount val="1"/>
                <c:pt idx="0">
                  <c:v>26.96986677</c:v>
                </c:pt>
              </c:numCache>
            </c:numRef>
          </c:xVal>
          <c:yVal>
            <c:numRef>
              <c:f>'Chart Data'!$F$2:$F$2</c:f>
              <c:numCache>
                <c:formatCode>0.0%</c:formatCode>
                <c:ptCount val="1"/>
                <c:pt idx="0">
                  <c:v>0.98888889</c:v>
                </c:pt>
              </c:numCache>
            </c:numRef>
          </c:yVal>
        </c:ser>
        <c:ser>
          <c:idx val="3"/>
          <c:order val="3"/>
          <c:tx>
            <c:v>YOLOv8s-cls</c:v>
          </c:tx>
          <c:marker>
            <c:symbol val="circle"/>
            <c:size val="12"/>
            <c:spPr>
              <a:solidFill xmlns:a="http://schemas.openxmlformats.org/drawingml/2006/main">
                <a:srgbClr val="7A477C"/>
              </a:solidFill>
            </c:spPr>
          </c:marker>
          <c:dLbls>
            <c:txPr>
              <a:bodyPr xmlns:a="http://schemas.openxmlformats.org/drawingml/2006/main" anchorCtr="1"/>
              <a:lstStyle xmlns:a="http://schemas.openxmlformats.org/drawingml/2006/main"/>
              <a:p xmlns:a="http://schemas.openxmlformats.org/drawingml/2006/main">
                <a:pPr>
                  <a:defRPr sz="1350">
                    <a:solidFill>
                      <a:srgbClr val="7A477C"/>
                    </a:solidFill>
                    <a:latin typeface="DejaVu Sans"/>
                    <a:ea typeface="DejaVu Sans"/>
                    <a:cs typeface="DejaVu Sans"/>
                  </a:defRPr>
                </a:pPr>
              </a:p>
            </c:txPr>
            <c:dLblPos val="t"/>
            <c:showLegendKey val="0"/>
            <c:showVal val="0"/>
            <c:showCatName val="0"/>
            <c:showSerName val="1"/>
            <c:showPercent val="0"/>
            <c:showBubbleSize val="0"/>
            <c:showLeaderLines val="0"/>
          </c:dLbls>
          <c:xVal>
            <c:numRef>
              <c:f>'Chart Data'!$G$2:$G$2</c:f>
              <c:numCache>
                <c:formatCode>General</c:formatCode>
                <c:ptCount val="1"/>
                <c:pt idx="0">
                  <c:v>51.06716488</c:v>
                </c:pt>
              </c:numCache>
            </c:numRef>
          </c:xVal>
          <c:yVal>
            <c:numRef>
              <c:f>'Chart Data'!$H$2:$H$2</c:f>
              <c:numCache>
                <c:formatCode>0.0%</c:formatCode>
                <c:ptCount val="1"/>
                <c:pt idx="0">
                  <c:v>0.99259259</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001"/>
          <c:min val="0.985"/>
        </c:scaling>
        <c:delete val="0"/>
        <c:axPos val="l"/>
        <c:majorGridlines>
          <c:spPr>
            <a:ln xmlns:a="http://schemas.openxmlformats.org/drawingml/2006/main" w="9525">
              <a:solidFill>
                <a:srgbClr val="D9E2E8"/>
              </a:solidFill>
              <a:prstDash val="solid"/>
            </a:ln>
          </c:spPr>
        </c:majorGridlines>
        <c:title>
          <c:tx>
            <c:rich>
              <a:bodyPr xmlns:a="http://schemas.openxmlformats.org/drawingml/2006/main"/>
              <a:lstStyle xmlns:a="http://schemas.openxmlformats.org/drawingml/2006/main"/>
              <a:p xmlns:a="http://schemas.openxmlformats.org/drawingml/2006/main">
                <a:r>
                  <a:rPr sz="1725">
                    <a:latin typeface="DejaVu Sans"/>
                    <a:ea typeface="DejaVu Sans"/>
                    <a:cs typeface="DejaVu Sans"/>
                  </a:rPr>
                  <a:t>Test accuracy</a:t>
                </a:r>
              </a:p>
            </c:rich>
          </c:tx>
          <c:overlay val="0"/>
          <c:txPr>
            <a:bodyPr xmlns:a="http://schemas.openxmlformats.org/drawingml/2006/main" anchorCtr="1"/>
            <a:lstStyle xmlns:a="http://schemas.openxmlformats.org/drawingml/2006/main"/>
            <a:p xmlns:a="http://schemas.openxmlformats.org/drawingml/2006/main">
              <a:pPr>
                <a:defRPr sz="1725">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50112"/>
        <c:majorUnit val="0.005"/>
      </c:valAx>
      <c:valAx>
        <c:axId val="48650112"/>
        <c:scaling>
          <c:orientation val="minMax"/>
          <c:max val="65"/>
          <c:min val="20"/>
        </c:scaling>
        <c:delete val="0"/>
        <c:axPos val="b"/>
        <c:majorGridlines>
          <c:spPr>
            <a:ln xmlns:a="http://schemas.openxmlformats.org/drawingml/2006/main" w="9525">
              <a:solidFill>
                <a:srgbClr val="D9E2E8"/>
              </a:solidFill>
              <a:prstDash val="solid"/>
            </a:ln>
          </c:spPr>
        </c:majorGridlines>
        <c:title>
          <c:tx>
            <c:rich>
              <a:bodyPr xmlns:a="http://schemas.openxmlformats.org/drawingml/2006/main"/>
              <a:lstStyle xmlns:a="http://schemas.openxmlformats.org/drawingml/2006/main"/>
              <a:p xmlns:a="http://schemas.openxmlformats.org/drawingml/2006/main">
                <a:r>
                  <a:rPr sz="1725">
                    <a:latin typeface="DejaVu Sans"/>
                    <a:ea typeface="DejaVu Sans"/>
                    <a:cs typeface="DejaVu Sans"/>
                  </a:rPr>
                  <a:t>Mean CPU latency (ms/image)</a:t>
                </a:r>
              </a:p>
            </c:rich>
          </c:tx>
          <c:overlay val="0"/>
          <c:txPr>
            <a:bodyPr xmlns:a="http://schemas.openxmlformats.org/drawingml/2006/main" anchorCtr="1"/>
            <a:lstStyle xmlns:a="http://schemas.openxmlformats.org/drawingml/2006/main"/>
            <a:p xmlns:a="http://schemas.openxmlformats.org/drawingml/2006/main">
              <a:pPr>
                <a:defRPr sz="1725">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B4D"/>
                </a:solidFill>
                <a:latin typeface="DejaVu Sans"/>
                <a:ea typeface="DejaVu Sans"/>
                <a:cs typeface="DejaVu Sans"/>
              </a:rPr>
              <a:t>MobileNetV2 loss</a:t>
            </a:r>
          </a:p>
        </c:rich>
      </c:tx>
      <c:overlay val="0"/>
      <c:txPr>
        <a:bodyPr xmlns:a="http://schemas.openxmlformats.org/drawingml/2006/main" anchorCtr="1"/>
        <a:lstStyle xmlns:a="http://schemas.openxmlformats.org/drawingml/2006/main"/>
        <a:p xmlns:a="http://schemas.openxmlformats.org/drawingml/2006/main">
          <a:pPr>
            <a:defRPr sz="1875" b="1">
              <a:solidFill>
                <a:srgbClr val="172B4D"/>
              </a:solidFill>
              <a:latin typeface="DejaVu Sans"/>
              <a:ea typeface="DejaVu Sans"/>
              <a:cs typeface="DejaVu Sans"/>
            </a:defRPr>
          </a:pPr>
        </a:p>
      </c:txPr>
    </c:title>
    <c:plotArea>
      <c:lineChart>
        <c:grouping val="standard"/>
        <c:varyColors val="0"/>
        <c:ser>
          <c:idx val="0"/>
          <c:order val="0"/>
          <c:tx>
            <c:v>Training</c:v>
          </c:tx>
          <c:spPr>
            <a:ln xmlns:a="http://schemas.openxmlformats.org/drawingml/2006/main" w="23813">
              <a:solidFill>
                <a:srgbClr val="006D77"/>
              </a:solidFill>
              <a:prstDash val="solid"/>
            </a:ln>
          </c:spPr>
          <c:marker>
            <c:symbol val="none"/>
          </c:marker>
          <c:cat>
            <c:numRef>
              <c:f>'Chart Data'!$A$2:$A$16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'Chart Data'!$B$2:$B$16</c:f>
              <c:numCache>
                <c:formatCode>0.00</c:formatCode>
                <c:ptCount val="15"/>
                <c:pt idx="0">
                  <c:v>0.27611595</c:v>
                </c:pt>
                <c:pt idx="1">
                  <c:v>0.10325965</c:v>
                </c:pt>
                <c:pt idx="2">
                  <c:v>0.0668203</c:v>
                </c:pt>
                <c:pt idx="3">
                  <c:v>0.06095094</c:v>
                </c:pt>
                <c:pt idx="4">
                  <c:v>0.04389552</c:v>
                </c:pt>
                <c:pt idx="5">
                  <c:v>0.05410614</c:v>
                </c:pt>
                <c:pt idx="6">
                  <c:v>0.03638962</c:v>
                </c:pt>
                <c:pt idx="7">
                  <c:v>0.0351797</c:v>
                </c:pt>
                <c:pt idx="8">
                  <c:v>0.03031742</c:v>
                </c:pt>
                <c:pt idx="9">
                  <c:v>0.02666773</c:v>
                </c:pt>
                <c:pt idx="10">
                  <c:v>0.03043865</c:v>
                </c:pt>
                <c:pt idx="11">
                  <c:v>0.02354694</c:v>
                </c:pt>
                <c:pt idx="12">
                  <c:v>0.02672693</c:v>
                </c:pt>
                <c:pt idx="13">
                  <c:v>0.03380174</c:v>
                </c:pt>
                <c:pt idx="14">
                  <c:v>0.02830069</c:v>
                </c:pt>
              </c:numCache>
            </c:numRef>
          </c:val>
          <c:smooth val="0"/>
        </c:ser>
        <c:ser>
          <c:idx val="1"/>
          <c:order val="1"/>
          <c:tx>
            <c:v>Validation</c:v>
          </c:tx>
          <c:spPr>
            <a:ln xmlns:a="http://schemas.openxmlformats.org/drawingml/2006/main" w="23813">
              <a:solidFill>
                <a:srgbClr val="BB551B"/>
              </a:solidFill>
              <a:prstDash val="solid"/>
            </a:ln>
          </c:spPr>
          <c:marker>
            <c:symbol val="none"/>
          </c:marker>
          <c:cat>
            <c:numRef>
              <c:f>'Chart Data'!$C$2:$C$16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'Chart Data'!$D$2:$D$16</c:f>
              <c:numCache>
                <c:formatCode>0.00</c:formatCode>
                <c:ptCount val="15"/>
                <c:pt idx="0">
                  <c:v>0.10966026</c:v>
                </c:pt>
                <c:pt idx="1">
                  <c:v>0.06689692</c:v>
                </c:pt>
                <c:pt idx="2">
                  <c:v>0.05002645</c:v>
                </c:pt>
                <c:pt idx="3">
                  <c:v>0.05228468</c:v>
                </c:pt>
                <c:pt idx="4">
                  <c:v>0.06346276</c:v>
                </c:pt>
                <c:pt idx="5">
                  <c:v>0.03199978</c:v>
                </c:pt>
                <c:pt idx="6">
                  <c:v>0.09715952</c:v>
                </c:pt>
                <c:pt idx="7">
                  <c:v>0.02519678</c:v>
                </c:pt>
                <c:pt idx="8">
                  <c:v>0.03318253</c:v>
                </c:pt>
                <c:pt idx="9">
                  <c:v>0.05014402</c:v>
                </c:pt>
                <c:pt idx="10">
                  <c:v>0.01767189</c:v>
                </c:pt>
                <c:pt idx="11">
                  <c:v>0.03827381</c:v>
                </c:pt>
                <c:pt idx="12">
                  <c:v>0.0212711</c:v>
                </c:pt>
                <c:pt idx="13">
                  <c:v>0.06131198</c:v>
                </c:pt>
                <c:pt idx="14">
                  <c:v>0.0172914</c:v>
                </c:pt>
              </c:numCache>
            </c:numRef>
          </c: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DejaVu Sans"/>
                    <a:ea typeface="DejaVu Sans"/>
                    <a:cs typeface="DejaVu Sans"/>
                  </a:rPr>
                  <a:t>Epoch</a:t>
                </a:r>
              </a:p>
            </c:rich>
          </c:tx>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B4D"/>
                </a:solidFill>
                <a:latin typeface="DejaVu Sans"/>
                <a:ea typeface="DejaVu Sans"/>
                <a:cs typeface="DejaVu Sans"/>
              </a:rPr>
              <a:t>YOLOv8n loss</a:t>
            </a:r>
          </a:p>
        </c:rich>
      </c:tx>
      <c:overlay val="0"/>
      <c:txPr>
        <a:bodyPr xmlns:a="http://schemas.openxmlformats.org/drawingml/2006/main" anchorCtr="1"/>
        <a:lstStyle xmlns:a="http://schemas.openxmlformats.org/drawingml/2006/main"/>
        <a:p xmlns:a="http://schemas.openxmlformats.org/drawingml/2006/main">
          <a:pPr>
            <a:defRPr sz="1875" b="1">
              <a:solidFill>
                <a:srgbClr val="172B4D"/>
              </a:solidFill>
              <a:latin typeface="DejaVu Sans"/>
              <a:ea typeface="DejaVu Sans"/>
              <a:cs typeface="DejaVu Sans"/>
            </a:defRPr>
          </a:pPr>
        </a:p>
      </c:txPr>
    </c:title>
    <c:plotArea>
      <c:lineChart>
        <c:grouping val="standard"/>
        <c:varyColors val="0"/>
        <c:ser>
          <c:idx val="0"/>
          <c:order val="0"/>
          <c:tx>
            <c:v>Training</c:v>
          </c:tx>
          <c:spPr>
            <a:ln xmlns:a="http://schemas.openxmlformats.org/drawingml/2006/main" w="23813">
              <a:solidFill>
                <a:srgbClr val="006D77"/>
              </a:solidFill>
              <a:prstDash val="solid"/>
            </a:ln>
          </c:spPr>
          <c:marker>
            <c:symbol val="none"/>
          </c:marker>
          <c:cat>
            <c:numRef>
              <c:f>'Chart Data'!$A$2:$A$12</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cat>
          <c:val>
            <c:numRef>
              <c:f>'Chart Data'!$B$2:$B$12</c:f>
              <c:numCache>
                <c:formatCode>0.00</c:formatCode>
                <c:ptCount val="11"/>
                <c:pt idx="0">
                  <c:v>0.40985</c:v>
                </c:pt>
                <c:pt idx="1">
                  <c:v>0.20411</c:v>
                </c:pt>
                <c:pt idx="2">
                  <c:v>0.1281</c:v>
                </c:pt>
                <c:pt idx="3">
                  <c:v>0.09062</c:v>
                </c:pt>
                <c:pt idx="4">
                  <c:v>0.08376</c:v>
                </c:pt>
                <c:pt idx="5">
                  <c:v>0.06963</c:v>
                </c:pt>
                <c:pt idx="6">
                  <c:v>0.04964</c:v>
                </c:pt>
                <c:pt idx="7">
                  <c:v>0.03871</c:v>
                </c:pt>
                <c:pt idx="8">
                  <c:v>0.04096</c:v>
                </c:pt>
                <c:pt idx="9">
                  <c:v>0.0372</c:v>
                </c:pt>
                <c:pt idx="10">
                  <c:v>0.02931</c:v>
                </c:pt>
              </c:numCache>
            </c:numRef>
          </c:val>
          <c:smooth val="0"/>
        </c:ser>
        <c:ser>
          <c:idx val="1"/>
          <c:order val="1"/>
          <c:tx>
            <c:v>Validation</c:v>
          </c:tx>
          <c:spPr>
            <a:ln xmlns:a="http://schemas.openxmlformats.org/drawingml/2006/main" w="23813">
              <a:solidFill>
                <a:srgbClr val="BB551B"/>
              </a:solidFill>
              <a:prstDash val="solid"/>
            </a:ln>
          </c:spPr>
          <c:marker>
            <c:symbol val="none"/>
          </c:marker>
          <c:cat>
            <c:numRef>
              <c:f>'Chart Data'!$C$2:$C$12</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cat>
          <c:val>
            <c:numRef>
              <c:f>'Chart Data'!$D$2:$D$12</c:f>
              <c:numCache>
                <c:formatCode>0.00</c:formatCode>
                <c:ptCount val="11"/>
                <c:pt idx="0">
                  <c:v>0.27182</c:v>
                </c:pt>
                <c:pt idx="1">
                  <c:v>0.13476</c:v>
                </c:pt>
                <c:pt idx="2">
                  <c:v>0.08638</c:v>
                </c:pt>
                <c:pt idx="3">
                  <c:v>0.0496</c:v>
                </c:pt>
                <c:pt idx="4">
                  <c:v>0.03794</c:v>
                </c:pt>
                <c:pt idx="5">
                  <c:v>0.04907</c:v>
                </c:pt>
                <c:pt idx="6">
                  <c:v>0.0238</c:v>
                </c:pt>
                <c:pt idx="7">
                  <c:v>0.02169</c:v>
                </c:pt>
                <c:pt idx="8">
                  <c:v>0.03098</c:v>
                </c:pt>
                <c:pt idx="9">
                  <c:v>0.03003</c:v>
                </c:pt>
                <c:pt idx="10">
                  <c:v>0.02142</c:v>
                </c:pt>
              </c:numCache>
            </c:numRef>
          </c: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DejaVu Sans"/>
                    <a:ea typeface="DejaVu Sans"/>
                    <a:cs typeface="DejaVu Sans"/>
                  </a:rPr>
                  <a:t>Epoch</a:t>
                </a:r>
              </a:p>
            </c:rich>
          </c:tx>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B4D"/>
                </a:solidFill>
                <a:latin typeface="DejaVu Sans"/>
                <a:ea typeface="DejaVu Sans"/>
                <a:cs typeface="DejaVu Sans"/>
              </a:rPr>
              <a:t>EfficientNetB0 loss</a:t>
            </a:r>
          </a:p>
        </c:rich>
      </c:tx>
      <c:overlay val="0"/>
      <c:txPr>
        <a:bodyPr xmlns:a="http://schemas.openxmlformats.org/drawingml/2006/main" anchorCtr="1"/>
        <a:lstStyle xmlns:a="http://schemas.openxmlformats.org/drawingml/2006/main"/>
        <a:p xmlns:a="http://schemas.openxmlformats.org/drawingml/2006/main">
          <a:pPr>
            <a:defRPr sz="1875" b="1">
              <a:solidFill>
                <a:srgbClr val="172B4D"/>
              </a:solidFill>
              <a:latin typeface="DejaVu Sans"/>
              <a:ea typeface="DejaVu Sans"/>
              <a:cs typeface="DejaVu Sans"/>
            </a:defRPr>
          </a:pPr>
        </a:p>
      </c:txPr>
    </c:title>
    <c:plotArea>
      <c:lineChart>
        <c:grouping val="standard"/>
        <c:varyColors val="0"/>
        <c:ser>
          <c:idx val="0"/>
          <c:order val="0"/>
          <c:tx>
            <c:v>Training</c:v>
          </c:tx>
          <c:spPr>
            <a:ln xmlns:a="http://schemas.openxmlformats.org/drawingml/2006/main" w="23813">
              <a:solidFill>
                <a:srgbClr val="006D77"/>
              </a:solidFill>
              <a:prstDash val="solid"/>
            </a:ln>
          </c:spPr>
          <c:marker>
            <c:symbol val="none"/>
          </c:marker>
          <c:cat>
            <c:numRef>
              <c:f>'Chart Data'!$A$2:$A$16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'Chart Data'!$B$2:$B$16</c:f>
              <c:numCache>
                <c:formatCode>0.00</c:formatCode>
                <c:ptCount val="15"/>
                <c:pt idx="0">
                  <c:v>0.37842035</c:v>
                </c:pt>
                <c:pt idx="1">
                  <c:v>0.16819489</c:v>
                </c:pt>
                <c:pt idx="2">
                  <c:v>0.12188316</c:v>
                </c:pt>
                <c:pt idx="3">
                  <c:v>0.12534852</c:v>
                </c:pt>
                <c:pt idx="4">
                  <c:v>0.0936562</c:v>
                </c:pt>
                <c:pt idx="5">
                  <c:v>0.07055838</c:v>
                </c:pt>
                <c:pt idx="6">
                  <c:v>0.07832415</c:v>
                </c:pt>
                <c:pt idx="7">
                  <c:v>0.08585695</c:v>
                </c:pt>
                <c:pt idx="8">
                  <c:v>0.05986915</c:v>
                </c:pt>
                <c:pt idx="9">
                  <c:v>0.05768792</c:v>
                </c:pt>
                <c:pt idx="10">
                  <c:v>0.06706695</c:v>
                </c:pt>
                <c:pt idx="11">
                  <c:v>0.04849302</c:v>
                </c:pt>
                <c:pt idx="12">
                  <c:v>0.04960806</c:v>
                </c:pt>
                <c:pt idx="13">
                  <c:v>0.0584723</c:v>
                </c:pt>
                <c:pt idx="14">
                  <c:v>0.06414989</c:v>
                </c:pt>
              </c:numCache>
            </c:numRef>
          </c:val>
          <c:smooth val="0"/>
        </c:ser>
        <c:ser>
          <c:idx val="1"/>
          <c:order val="1"/>
          <c:tx>
            <c:v>Validation</c:v>
          </c:tx>
          <c:spPr>
            <a:ln xmlns:a="http://schemas.openxmlformats.org/drawingml/2006/main" w="23813">
              <a:solidFill>
                <a:srgbClr val="BB551B"/>
              </a:solidFill>
              <a:prstDash val="solid"/>
            </a:ln>
          </c:spPr>
          <c:marker>
            <c:symbol val="none"/>
          </c:marker>
          <c:cat>
            <c:numRef>
              <c:f>'Chart Data'!$C$2:$C$16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'Chart Data'!$D$2:$D$16</c:f>
              <c:numCache>
                <c:formatCode>0.00</c:formatCode>
                <c:ptCount val="15"/>
                <c:pt idx="0">
                  <c:v>0.20167829</c:v>
                </c:pt>
                <c:pt idx="1">
                  <c:v>0.12243863</c:v>
                </c:pt>
                <c:pt idx="2">
                  <c:v>0.09668727</c:v>
                </c:pt>
                <c:pt idx="3">
                  <c:v>0.07896315</c:v>
                </c:pt>
                <c:pt idx="4">
                  <c:v>0.07725035</c:v>
                </c:pt>
                <c:pt idx="5">
                  <c:v>0.07828669</c:v>
                </c:pt>
                <c:pt idx="6">
                  <c:v>0.15869164</c:v>
                </c:pt>
                <c:pt idx="7">
                  <c:v>0.06210059</c:v>
                </c:pt>
                <c:pt idx="8">
                  <c:v>0.09080257</c:v>
                </c:pt>
                <c:pt idx="9">
                  <c:v>0.06808235</c:v>
                </c:pt>
                <c:pt idx="10">
                  <c:v>0.04786014</c:v>
                </c:pt>
                <c:pt idx="11">
                  <c:v>0.06171083</c:v>
                </c:pt>
                <c:pt idx="12">
                  <c:v>0.04853741</c:v>
                </c:pt>
                <c:pt idx="13">
                  <c:v>0.16660298</c:v>
                </c:pt>
                <c:pt idx="14">
                  <c:v>0.08072831</c:v>
                </c:pt>
              </c:numCache>
            </c:numRef>
          </c: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DejaVu Sans"/>
                    <a:ea typeface="DejaVu Sans"/>
                    <a:cs typeface="DejaVu Sans"/>
                  </a:rPr>
                  <a:t>Epoch</a:t>
                </a:r>
              </a:p>
            </c:rich>
          </c:tx>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B4D"/>
                </a:solidFill>
                <a:latin typeface="DejaVu Sans"/>
                <a:ea typeface="DejaVu Sans"/>
                <a:cs typeface="DejaVu Sans"/>
              </a:rPr>
              <a:t>YOLOv8s loss</a:t>
            </a:r>
          </a:p>
        </c:rich>
      </c:tx>
      <c:overlay val="0"/>
      <c:txPr>
        <a:bodyPr xmlns:a="http://schemas.openxmlformats.org/drawingml/2006/main" anchorCtr="1"/>
        <a:lstStyle xmlns:a="http://schemas.openxmlformats.org/drawingml/2006/main"/>
        <a:p xmlns:a="http://schemas.openxmlformats.org/drawingml/2006/main">
          <a:pPr>
            <a:defRPr sz="1875" b="1">
              <a:solidFill>
                <a:srgbClr val="172B4D"/>
              </a:solidFill>
              <a:latin typeface="DejaVu Sans"/>
              <a:ea typeface="DejaVu Sans"/>
              <a:cs typeface="DejaVu Sans"/>
            </a:defRPr>
          </a:pPr>
        </a:p>
      </c:txPr>
    </c:title>
    <c:plotArea>
      <c:lineChart>
        <c:grouping val="standard"/>
        <c:varyColors val="0"/>
        <c:ser>
          <c:idx val="0"/>
          <c:order val="0"/>
          <c:tx>
            <c:v>Training</c:v>
          </c:tx>
          <c:spPr>
            <a:ln xmlns:a="http://schemas.openxmlformats.org/drawingml/2006/main" w="23813">
              <a:solidFill>
                <a:srgbClr val="006D77"/>
              </a:solidFill>
              <a:prstDash val="solid"/>
            </a:ln>
          </c:spPr>
          <c:marker>
            <c:symbol val="none"/>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0.00</c:formatCode>
                <c:ptCount val="7"/>
                <c:pt idx="0">
                  <c:v>0.34289</c:v>
                </c:pt>
                <c:pt idx="1">
                  <c:v>0.14335</c:v>
                </c:pt>
                <c:pt idx="2">
                  <c:v>0.07152</c:v>
                </c:pt>
                <c:pt idx="3">
                  <c:v>0.04383</c:v>
                </c:pt>
                <c:pt idx="4">
                  <c:v>0.03814</c:v>
                </c:pt>
                <c:pt idx="5">
                  <c:v>0.03286</c:v>
                </c:pt>
                <c:pt idx="6">
                  <c:v>0.021</c:v>
                </c:pt>
              </c:numCache>
            </c:numRef>
          </c:val>
          <c:smooth val="0"/>
        </c:ser>
        <c:ser>
          <c:idx val="1"/>
          <c:order val="1"/>
          <c:tx>
            <c:v>Validation</c:v>
          </c:tx>
          <c:spPr>
            <a:ln xmlns:a="http://schemas.openxmlformats.org/drawingml/2006/main" w="23813">
              <a:solidFill>
                <a:srgbClr val="BB551B"/>
              </a:solidFill>
              <a:prstDash val="solid"/>
            </a:ln>
          </c:spPr>
          <c:marker>
            <c:symbol val="none"/>
          </c:marker>
          <c:cat>
            <c:numRef>
              <c:f>'Chart Data'!$C$2:$C$8</c:f>
              <c:numCache>
                <c:formatCode>General</c:formatCode>
                <c:ptCount val="7"/>
                <c:pt idx="0">
                  <c:v>1</c:v>
                </c:pt>
                <c:pt idx="1">
                  <c:v>2</c:v>
                </c:pt>
                <c:pt idx="2">
                  <c:v>3</c:v>
                </c:pt>
                <c:pt idx="3">
                  <c:v>4</c:v>
                </c:pt>
                <c:pt idx="4">
                  <c:v>5</c:v>
                </c:pt>
                <c:pt idx="5">
                  <c:v>6</c:v>
                </c:pt>
                <c:pt idx="6">
                  <c:v>7</c:v>
                </c:pt>
              </c:numCache>
            </c:numRef>
          </c:cat>
          <c:val>
            <c:numRef>
              <c:f>'Chart Data'!$D$2:$D$8</c:f>
              <c:numCache>
                <c:formatCode>0.00</c:formatCode>
                <c:ptCount val="7"/>
                <c:pt idx="0">
                  <c:v>0.11511</c:v>
                </c:pt>
                <c:pt idx="1">
                  <c:v>0.05192</c:v>
                </c:pt>
                <c:pt idx="2">
                  <c:v>0.03335</c:v>
                </c:pt>
                <c:pt idx="3">
                  <c:v>0.02274</c:v>
                </c:pt>
                <c:pt idx="4">
                  <c:v>0.01907</c:v>
                </c:pt>
                <c:pt idx="5">
                  <c:v>0.02648</c:v>
                </c:pt>
                <c:pt idx="6">
                  <c:v>0.01724</c:v>
                </c:pt>
              </c:numCache>
            </c:numRef>
          </c: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DejaVu Sans"/>
                    <a:ea typeface="DejaVu Sans"/>
                    <a:cs typeface="DejaVu Sans"/>
                  </a:rPr>
                  <a:t>Epoch</a:t>
                </a:r>
              </a:p>
            </c:rich>
          </c:tx>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C814BA1-3F0C-422D-BEA0-892E6DDBF7A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Document quality classification</a:t>
            </a:r>
          </a:p>
        </p:txBody>
      </p:sp>
      <p:sp>
        <p:nvSpPr>
          <p:cNvPr id="2" name="text-1">
            <a:extLst xmlns:a="http://schemas.openxmlformats.org/drawingml/2006/main">
              <a:ext uri="{FF2B5EF4-FFF2-40B4-BE49-F238E27FC236}">
                <a16:creationId xmlns:a16="http://schemas.microsoft.com/office/drawing/2014/main" id="{40C48D34-8DF6-4A4F-B3AA-676A4A13563E}"/>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FBB2A3B6-DB4D-4B45-AE77-9F4AC3D1C6A4}"/>
              </a:ext>
            </a:extLst>
          </p:cNvPr>
          <p:cNvSpPr>
            <a:spLocks xmlns:a="http://schemas.openxmlformats.org/drawingml/2006/main" noGrp="1"/>
          </p:cNvSpPr>
          <p:nvPr/>
        </p:nvSpPr>
        <p:spPr>
          <a:xfrm xmlns:a="http://schemas.openxmlformats.org/drawingml/2006/main">
            <a:off x="628650" y="20002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006D77"/>
                </a:solidFill>
                <a:latin typeface="DejaVu Sans"/>
                <a:ea typeface="DejaVu Sans"/>
                <a:cs typeface="DejaVu Sans"/>
              </a:defRPr>
            </a:defPPr>
            <a:lvl1pPr>
              <a:defRPr sz="2400" b="1">
                <a:solidFill>
                  <a:srgbClr val="006D77"/>
                </a:solidFill>
                <a:latin typeface="DejaVu Sans"/>
                <a:ea typeface="DejaVu Sans"/>
                <a:cs typeface="DejaVu Sans"/>
              </a:defRPr>
            </a:lvl1pPr>
            <a:lvl2pPr>
              <a:defRPr sz="2400" b="1">
                <a:solidFill>
                  <a:srgbClr val="006D77"/>
                </a:solidFill>
                <a:latin typeface="DejaVu Sans"/>
                <a:ea typeface="DejaVu Sans"/>
                <a:cs typeface="DejaVu Sans"/>
              </a:defRPr>
            </a:lvl2pPr>
            <a:lvl3pPr>
              <a:defRPr sz="2400" b="1">
                <a:solidFill>
                  <a:srgbClr val="006D77"/>
                </a:solidFill>
                <a:latin typeface="DejaVu Sans"/>
                <a:ea typeface="DejaVu Sans"/>
                <a:cs typeface="DejaVu Sans"/>
              </a:defRPr>
            </a:lvl3pPr>
            <a:lvl4pPr>
              <a:defRPr sz="2400" b="1">
                <a:solidFill>
                  <a:srgbClr val="006D77"/>
                </a:solidFill>
                <a:latin typeface="DejaVu Sans"/>
                <a:ea typeface="DejaVu Sans"/>
                <a:cs typeface="DejaVu Sans"/>
              </a:defRPr>
            </a:lvl4pPr>
            <a:lvl5pPr>
              <a:defRPr sz="2400" b="1">
                <a:solidFill>
                  <a:srgbClr val="006D77"/>
                </a:solidFill>
                <a:latin typeface="DejaVu Sans"/>
                <a:ea typeface="DejaVu Sans"/>
                <a:cs typeface="DejaVu Sans"/>
              </a:defRPr>
            </a:lvl5pPr>
            <a:lvl6pPr>
              <a:defRPr sz="2400" b="1">
                <a:solidFill>
                  <a:srgbClr val="006D77"/>
                </a:solidFill>
                <a:latin typeface="DejaVu Sans"/>
                <a:ea typeface="DejaVu Sans"/>
                <a:cs typeface="DejaVu Sans"/>
              </a:defRPr>
            </a:lvl6pPr>
            <a:lvl7pPr>
              <a:defRPr sz="2400" b="1">
                <a:solidFill>
                  <a:srgbClr val="006D77"/>
                </a:solidFill>
                <a:latin typeface="DejaVu Sans"/>
                <a:ea typeface="DejaVu Sans"/>
                <a:cs typeface="DejaVu Sans"/>
              </a:defRPr>
            </a:lvl7pPr>
            <a:lvl8pPr>
              <a:defRPr sz="2400" b="1">
                <a:solidFill>
                  <a:srgbClr val="006D77"/>
                </a:solidFill>
                <a:latin typeface="DejaVu Sans"/>
                <a:ea typeface="DejaVu Sans"/>
                <a:cs typeface="DejaVu Sans"/>
              </a:defRPr>
            </a:lvl8pPr>
            <a:lvl9pPr>
              <a:defRPr sz="2400" b="1">
                <a:solidFill>
                  <a:srgbClr val="006D77"/>
                </a:solidFill>
                <a:latin typeface="DejaVu Sans"/>
                <a:ea typeface="DejaVu Sans"/>
                <a:cs typeface="DejaVu Sans"/>
              </a:defRPr>
            </a:lvl9pPr>
          </a:lstStyle>
          <a:p xmlns:a="http://schemas.openxmlformats.org/drawingml/2006/main">
            <a:pPr>
              <a:defRPr sz="2400" b="1">
                <a:solidFill>
                  <a:srgbClr val="006D77"/>
                </a:solidFill>
                <a:latin typeface="DejaVu Sans"/>
                <a:ea typeface="DejaVu Sans"/>
                <a:cs typeface="DejaVu Sans"/>
              </a:defRPr>
            </a:pPr>
            <a:r>
              <a:rPr sz="2400" b="1">
                <a:solidFill>
                  <a:srgbClr val="006D77"/>
                </a:solidFill>
                <a:latin typeface="DejaVu Sans"/>
                <a:ea typeface="DejaVu Sans"/>
                <a:cs typeface="DejaVu Sans"/>
              </a:rPr>
              <a:t>Lab 06</a:t>
            </a:r>
          </a:p>
        </p:txBody>
      </p:sp>
      <p:sp>
        <p:nvSpPr>
          <p:cNvPr id="4" name="text-3">
            <a:extLst xmlns:a="http://schemas.openxmlformats.org/drawingml/2006/main">
              <a:ext uri="{FF2B5EF4-FFF2-40B4-BE49-F238E27FC236}">
                <a16:creationId xmlns:a16="http://schemas.microsoft.com/office/drawing/2014/main" id="{977646BC-66C7-40D6-A2D7-7DB8C0086A21}"/>
              </a:ext>
            </a:extLst>
          </p:cNvPr>
          <p:cNvSpPr>
            <a:spLocks xmlns:a="http://schemas.openxmlformats.org/drawingml/2006/main" noGrp="1"/>
          </p:cNvSpPr>
          <p:nvPr/>
        </p:nvSpPr>
        <p:spPr>
          <a:xfrm xmlns:a="http://schemas.openxmlformats.org/drawingml/2006/main">
            <a:off x="628650" y="280035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1">
                <a:solidFill>
                  <a:srgbClr val="172B4D"/>
                </a:solidFill>
                <a:latin typeface="DejaVu Sans"/>
                <a:ea typeface="DejaVu Sans"/>
                <a:cs typeface="DejaVu Sans"/>
              </a:defRPr>
            </a:defPPr>
            <a:lvl1pPr>
              <a:defRPr sz="3600" b="1">
                <a:solidFill>
                  <a:srgbClr val="172B4D"/>
                </a:solidFill>
                <a:latin typeface="DejaVu Sans"/>
                <a:ea typeface="DejaVu Sans"/>
                <a:cs typeface="DejaVu Sans"/>
              </a:defRPr>
            </a:lvl1pPr>
            <a:lvl2pPr>
              <a:defRPr sz="3600" b="1">
                <a:solidFill>
                  <a:srgbClr val="172B4D"/>
                </a:solidFill>
                <a:latin typeface="DejaVu Sans"/>
                <a:ea typeface="DejaVu Sans"/>
                <a:cs typeface="DejaVu Sans"/>
              </a:defRPr>
            </a:lvl2pPr>
            <a:lvl3pPr>
              <a:defRPr sz="3600" b="1">
                <a:solidFill>
                  <a:srgbClr val="172B4D"/>
                </a:solidFill>
                <a:latin typeface="DejaVu Sans"/>
                <a:ea typeface="DejaVu Sans"/>
                <a:cs typeface="DejaVu Sans"/>
              </a:defRPr>
            </a:lvl3pPr>
            <a:lvl4pPr>
              <a:defRPr sz="3600" b="1">
                <a:solidFill>
                  <a:srgbClr val="172B4D"/>
                </a:solidFill>
                <a:latin typeface="DejaVu Sans"/>
                <a:ea typeface="DejaVu Sans"/>
                <a:cs typeface="DejaVu Sans"/>
              </a:defRPr>
            </a:lvl4pPr>
            <a:lvl5pPr>
              <a:defRPr sz="3600" b="1">
                <a:solidFill>
                  <a:srgbClr val="172B4D"/>
                </a:solidFill>
                <a:latin typeface="DejaVu Sans"/>
                <a:ea typeface="DejaVu Sans"/>
                <a:cs typeface="DejaVu Sans"/>
              </a:defRPr>
            </a:lvl5pPr>
            <a:lvl6pPr>
              <a:defRPr sz="3600" b="1">
                <a:solidFill>
                  <a:srgbClr val="172B4D"/>
                </a:solidFill>
                <a:latin typeface="DejaVu Sans"/>
                <a:ea typeface="DejaVu Sans"/>
                <a:cs typeface="DejaVu Sans"/>
              </a:defRPr>
            </a:lvl6pPr>
            <a:lvl7pPr>
              <a:defRPr sz="3600" b="1">
                <a:solidFill>
                  <a:srgbClr val="172B4D"/>
                </a:solidFill>
                <a:latin typeface="DejaVu Sans"/>
                <a:ea typeface="DejaVu Sans"/>
                <a:cs typeface="DejaVu Sans"/>
              </a:defRPr>
            </a:lvl7pPr>
            <a:lvl8pPr>
              <a:defRPr sz="3600" b="1">
                <a:solidFill>
                  <a:srgbClr val="172B4D"/>
                </a:solidFill>
                <a:latin typeface="DejaVu Sans"/>
                <a:ea typeface="DejaVu Sans"/>
                <a:cs typeface="DejaVu Sans"/>
              </a:defRPr>
            </a:lvl8pPr>
            <a:lvl9pPr>
              <a:defRPr sz="3600" b="1">
                <a:solidFill>
                  <a:srgbClr val="172B4D"/>
                </a:solidFill>
                <a:latin typeface="DejaVu Sans"/>
                <a:ea typeface="DejaVu Sans"/>
                <a:cs typeface="DejaVu Sans"/>
              </a:defRPr>
            </a:lvl9pPr>
          </a:lstStyle>
          <a:p xmlns:a="http://schemas.openxmlformats.org/drawingml/2006/main">
            <a:pPr>
              <a:defRPr sz="3600" b="1">
                <a:solidFill>
                  <a:srgbClr val="172B4D"/>
                </a:solidFill>
                <a:latin typeface="DejaVu Sans"/>
                <a:ea typeface="DejaVu Sans"/>
                <a:cs typeface="DejaVu Sans"/>
              </a:defRPr>
            </a:pPr>
            <a:r>
              <a:rPr sz="3600" b="1">
                <a:solidFill>
                  <a:srgbClr val="172B4D"/>
                </a:solidFill>
                <a:latin typeface="DejaVu Sans"/>
                <a:ea typeface="DejaVu Sans"/>
                <a:cs typeface="DejaVu Sans"/>
              </a:rPr>
              <a:t>Model selection on a small synthetic dataset</a:t>
            </a:r>
          </a:p>
        </p:txBody>
      </p:sp>
      <p:sp>
        <p:nvSpPr>
          <p:cNvPr id="5" name="text-4">
            <a:extLst xmlns:a="http://schemas.openxmlformats.org/drawingml/2006/main">
              <a:ext uri="{FF2B5EF4-FFF2-40B4-BE49-F238E27FC236}">
                <a16:creationId xmlns:a16="http://schemas.microsoft.com/office/drawing/2014/main" id="{9BE0DA56-3BA0-4C9D-97ED-F27D59C77984}"/>
              </a:ext>
            </a:extLst>
          </p:cNvPr>
          <p:cNvSpPr>
            <a:spLocks xmlns:a="http://schemas.openxmlformats.org/drawingml/2006/main" noGrp="1"/>
          </p:cNvSpPr>
          <p:nvPr/>
        </p:nvSpPr>
        <p:spPr>
          <a:xfrm xmlns:a="http://schemas.openxmlformats.org/drawingml/2006/main">
            <a:off x="628650" y="4857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506075"/>
                </a:solidFill>
                <a:latin typeface="DejaVu Sans"/>
                <a:ea typeface="DejaVu Sans"/>
                <a:cs typeface="DejaVu Sans"/>
              </a:defRPr>
            </a:defPPr>
            <a:lvl1pPr>
              <a:defRPr sz="1875" b="0">
                <a:solidFill>
                  <a:srgbClr val="506075"/>
                </a:solidFill>
                <a:latin typeface="DejaVu Sans"/>
                <a:ea typeface="DejaVu Sans"/>
                <a:cs typeface="DejaVu Sans"/>
              </a:defRPr>
            </a:lvl1pPr>
            <a:lvl2pPr>
              <a:defRPr sz="1875" b="0">
                <a:solidFill>
                  <a:srgbClr val="506075"/>
                </a:solidFill>
                <a:latin typeface="DejaVu Sans"/>
                <a:ea typeface="DejaVu Sans"/>
                <a:cs typeface="DejaVu Sans"/>
              </a:defRPr>
            </a:lvl2pPr>
            <a:lvl3pPr>
              <a:defRPr sz="1875" b="0">
                <a:solidFill>
                  <a:srgbClr val="506075"/>
                </a:solidFill>
                <a:latin typeface="DejaVu Sans"/>
                <a:ea typeface="DejaVu Sans"/>
                <a:cs typeface="DejaVu Sans"/>
              </a:defRPr>
            </a:lvl3pPr>
            <a:lvl4pPr>
              <a:defRPr sz="1875" b="0">
                <a:solidFill>
                  <a:srgbClr val="506075"/>
                </a:solidFill>
                <a:latin typeface="DejaVu Sans"/>
                <a:ea typeface="DejaVu Sans"/>
                <a:cs typeface="DejaVu Sans"/>
              </a:defRPr>
            </a:lvl4pPr>
            <a:lvl5pPr>
              <a:defRPr sz="1875" b="0">
                <a:solidFill>
                  <a:srgbClr val="506075"/>
                </a:solidFill>
                <a:latin typeface="DejaVu Sans"/>
                <a:ea typeface="DejaVu Sans"/>
                <a:cs typeface="DejaVu Sans"/>
              </a:defRPr>
            </a:lvl5pPr>
            <a:lvl6pPr>
              <a:defRPr sz="1875" b="0">
                <a:solidFill>
                  <a:srgbClr val="506075"/>
                </a:solidFill>
                <a:latin typeface="DejaVu Sans"/>
                <a:ea typeface="DejaVu Sans"/>
                <a:cs typeface="DejaVu Sans"/>
              </a:defRPr>
            </a:lvl6pPr>
            <a:lvl7pPr>
              <a:defRPr sz="1875" b="0">
                <a:solidFill>
                  <a:srgbClr val="506075"/>
                </a:solidFill>
                <a:latin typeface="DejaVu Sans"/>
                <a:ea typeface="DejaVu Sans"/>
                <a:cs typeface="DejaVu Sans"/>
              </a:defRPr>
            </a:lvl7pPr>
            <a:lvl8pPr>
              <a:defRPr sz="1875" b="0">
                <a:solidFill>
                  <a:srgbClr val="506075"/>
                </a:solidFill>
                <a:latin typeface="DejaVu Sans"/>
                <a:ea typeface="DejaVu Sans"/>
                <a:cs typeface="DejaVu Sans"/>
              </a:defRPr>
            </a:lvl8pPr>
            <a:lvl9pPr>
              <a:defRPr sz="1875" b="0">
                <a:solidFill>
                  <a:srgbClr val="506075"/>
                </a:solidFill>
                <a:latin typeface="DejaVu Sans"/>
                <a:ea typeface="DejaVu Sans"/>
                <a:cs typeface="DejaVu Sans"/>
              </a:defRPr>
            </a:lvl9pPr>
          </a:lstStyle>
          <a:p xmlns:a="http://schemas.openxmlformats.org/drawingml/2006/main">
            <a:pPr>
              <a:defRPr sz="1875" b="0">
                <a:solidFill>
                  <a:srgbClr val="506075"/>
                </a:solidFill>
                <a:latin typeface="DejaVu Sans"/>
                <a:ea typeface="DejaVu Sans"/>
                <a:cs typeface="DejaVu Sans"/>
              </a:defRPr>
            </a:pPr>
            <a:r>
              <a:rPr sz="1875" b="0">
                <a:solidFill>
                  <a:srgbClr val="506075"/>
                </a:solidFill>
                <a:latin typeface="DejaVu Sans"/>
                <a:ea typeface="DejaVu Sans"/>
                <a:cs typeface="DejaVu Sans"/>
              </a:rPr>
              <a:t>Seed 2473986</a:t>
            </a:r>
          </a:p>
          <a:p xmlns:a="http://schemas.openxmlformats.org/drawingml/2006/main">
            <a:pPr>
              <a:defRPr sz="1875" b="0">
                <a:solidFill>
                  <a:srgbClr val="506075"/>
                </a:solidFill>
                <a:latin typeface="DejaVu Sans"/>
                <a:ea typeface="DejaVu Sans"/>
                <a:cs typeface="DejaVu Sans"/>
              </a:defRPr>
            </a:pPr>
            <a:r>
              <a:rPr sz="1875" b="0">
                <a:solidFill>
                  <a:srgbClr val="506075"/>
                </a:solidFill>
                <a:latin typeface="DejaVu Sans"/>
                <a:ea typeface="DejaVu Sans"/>
                <a:cs typeface="DejaVu Sans"/>
              </a:rPr>
              <a:t>25 October 2026</a:t>
            </a:r>
          </a:p>
        </p:txBody>
      </p:sp>
    </p:spTree>
    <p:extLst>
      <p:ext uri="{BB962C8B-B14F-4D97-AF65-F5344CB8AC3E}">
        <p14:creationId xmlns:p14="http://schemas.microsoft.com/office/powerpoint/2010/main" val="3184934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ABF0C4B-7E07-4117-A22C-B4CCA3815E8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Dataset and source-level split</a:t>
            </a:r>
          </a:p>
        </p:txBody>
      </p:sp>
      <p:sp>
        <p:nvSpPr>
          <p:cNvPr id="2" name="text-1">
            <a:extLst xmlns:a="http://schemas.openxmlformats.org/drawingml/2006/main">
              <a:ext uri="{FF2B5EF4-FFF2-40B4-BE49-F238E27FC236}">
                <a16:creationId xmlns:a16="http://schemas.microsoft.com/office/drawing/2014/main" id="{A71A74CF-ACA8-439F-B2C0-AFB64DDE8BC4}"/>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02</a:t>
            </a:r>
          </a:p>
        </p:txBody>
      </p:sp>
      <p:sp>
        <p:nvSpPr>
          <p:cNvPr id="3" name="text-2">
            <a:extLst xmlns:a="http://schemas.openxmlformats.org/drawingml/2006/main">
              <a:ext uri="{FF2B5EF4-FFF2-40B4-BE49-F238E27FC236}">
                <a16:creationId xmlns:a16="http://schemas.microsoft.com/office/drawing/2014/main" id="{59410EDE-6B2C-4385-A437-7554AD32190E}"/>
              </a:ext>
            </a:extLst>
          </p:cNvPr>
          <p:cNvSpPr>
            <a:spLocks xmlns:a="http://schemas.openxmlformats.org/drawingml/2006/main" noGrp="1"/>
          </p:cNvSpPr>
          <p:nvPr/>
        </p:nvSpPr>
        <p:spPr>
          <a:xfrm xmlns:a="http://schemas.openxmlformats.org/drawingml/2006/main">
            <a:off x="609600" y="14668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75" b="1">
                <a:solidFill>
                  <a:srgbClr val="006D77"/>
                </a:solidFill>
                <a:latin typeface="DejaVu Sans"/>
                <a:ea typeface="DejaVu Sans"/>
                <a:cs typeface="DejaVu Sans"/>
              </a:defRPr>
            </a:defPPr>
            <a:lvl1pPr>
              <a:defRPr sz="2475" b="1">
                <a:solidFill>
                  <a:srgbClr val="006D77"/>
                </a:solidFill>
                <a:latin typeface="DejaVu Sans"/>
                <a:ea typeface="DejaVu Sans"/>
                <a:cs typeface="DejaVu Sans"/>
              </a:defRPr>
            </a:lvl1pPr>
            <a:lvl2pPr>
              <a:defRPr sz="2475" b="1">
                <a:solidFill>
                  <a:srgbClr val="006D77"/>
                </a:solidFill>
                <a:latin typeface="DejaVu Sans"/>
                <a:ea typeface="DejaVu Sans"/>
                <a:cs typeface="DejaVu Sans"/>
              </a:defRPr>
            </a:lvl2pPr>
            <a:lvl3pPr>
              <a:defRPr sz="2475" b="1">
                <a:solidFill>
                  <a:srgbClr val="006D77"/>
                </a:solidFill>
                <a:latin typeface="DejaVu Sans"/>
                <a:ea typeface="DejaVu Sans"/>
                <a:cs typeface="DejaVu Sans"/>
              </a:defRPr>
            </a:lvl3pPr>
            <a:lvl4pPr>
              <a:defRPr sz="2475" b="1">
                <a:solidFill>
                  <a:srgbClr val="006D77"/>
                </a:solidFill>
                <a:latin typeface="DejaVu Sans"/>
                <a:ea typeface="DejaVu Sans"/>
                <a:cs typeface="DejaVu Sans"/>
              </a:defRPr>
            </a:lvl4pPr>
            <a:lvl5pPr>
              <a:defRPr sz="2475" b="1">
                <a:solidFill>
                  <a:srgbClr val="006D77"/>
                </a:solidFill>
                <a:latin typeface="DejaVu Sans"/>
                <a:ea typeface="DejaVu Sans"/>
                <a:cs typeface="DejaVu Sans"/>
              </a:defRPr>
            </a:lvl5pPr>
            <a:lvl6pPr>
              <a:defRPr sz="2475" b="1">
                <a:solidFill>
                  <a:srgbClr val="006D77"/>
                </a:solidFill>
                <a:latin typeface="DejaVu Sans"/>
                <a:ea typeface="DejaVu Sans"/>
                <a:cs typeface="DejaVu Sans"/>
              </a:defRPr>
            </a:lvl6pPr>
            <a:lvl7pPr>
              <a:defRPr sz="2475" b="1">
                <a:solidFill>
                  <a:srgbClr val="006D77"/>
                </a:solidFill>
                <a:latin typeface="DejaVu Sans"/>
                <a:ea typeface="DejaVu Sans"/>
                <a:cs typeface="DejaVu Sans"/>
              </a:defRPr>
            </a:lvl7pPr>
            <a:lvl8pPr>
              <a:defRPr sz="2475" b="1">
                <a:solidFill>
                  <a:srgbClr val="006D77"/>
                </a:solidFill>
                <a:latin typeface="DejaVu Sans"/>
                <a:ea typeface="DejaVu Sans"/>
                <a:cs typeface="DejaVu Sans"/>
              </a:defRPr>
            </a:lvl8pPr>
            <a:lvl9pPr>
              <a:defRPr sz="2475" b="1">
                <a:solidFill>
                  <a:srgbClr val="006D77"/>
                </a:solidFill>
                <a:latin typeface="DejaVu Sans"/>
                <a:ea typeface="DejaVu Sans"/>
                <a:cs typeface="DejaVu Sans"/>
              </a:defRPr>
            </a:lvl9pPr>
          </a:lstStyle>
          <a:p xmlns:a="http://schemas.openxmlformats.org/drawingml/2006/main">
            <a:pPr>
              <a:defRPr sz="2475" b="1">
                <a:solidFill>
                  <a:srgbClr val="006D77"/>
                </a:solidFill>
                <a:latin typeface="DejaVu Sans"/>
                <a:ea typeface="DejaVu Sans"/>
                <a:cs typeface="DejaVu Sans"/>
              </a:defRPr>
            </a:pPr>
            <a:r>
              <a:rPr sz="2475" b="1">
                <a:solidFill>
                  <a:srgbClr val="006D77"/>
                </a:solidFill>
                <a:latin typeface="DejaVu Sans"/>
                <a:ea typeface="DejaVu Sans"/>
                <a:cs typeface="DejaVu Sans"/>
              </a:rPr>
              <a:t>1,800 images from 300 source documents</a:t>
            </a:r>
          </a:p>
        </p:txBody>
      </p:sp>
      <p:graphicFrame>
        <p:nvGraphicFramePr>
          <p:cNvPr id="4" name="">
            <a:extLst xmlns:a="http://schemas.openxmlformats.org/drawingml/2006/main">
              <a:ext uri="{FF2B5EF4-FFF2-40B4-BE49-F238E27FC236}">
                <a16:creationId xmlns:a16="http://schemas.microsoft.com/office/drawing/2014/main" id="{21617B8A-74F9-41C9-91CE-273FD21BE143}"/>
              </a:ext>
            </a:extLst>
          </p:cNvPr>
          <p:cNvGraphicFramePr/>
          <p:nvPr/>
        </p:nvGraphicFramePr>
        <p:xfrm>
          <a:off xmlns:a="http://schemas.openxmlformats.org/drawingml/2006/main" x="609600" y="2247900"/>
          <a:ext xmlns:a="http://schemas.openxmlformats.org/drawingml/2006/main" cx="10972800" cy="2457450"/>
        </p:xfrm>
        <a:graphic xmlns:a="http://schemas.openxmlformats.org/drawingml/2006/main">
          <a:graphicData uri="http://schemas.openxmlformats.org/drawingml/2006/table">
            <a:tbl>
              <a:tblPr firstRow="0" bandRow="0"/>
              <a:tblGrid>
                <a:gridCol w="3238500"/>
                <a:gridCol w="2286000"/>
                <a:gridCol w="2286000"/>
                <a:gridCol w="3162300"/>
              </a:tblGrid>
              <a:tr h="614363">
                <a:tc>
                  <a:txBody>
                    <a:bodyPr lIns="95250" tIns="95250" rIns="95250" bIns="95250"/>
                    <a:lstStyle/>
                    <a:p>
                      <a:r>
                        <a:rPr sz="2025" b="1">
                          <a:solidFill>
                            <a:srgbClr val="FFFFFF"/>
                          </a:solidFill>
                          <a:latin typeface="DejaVu Sans"/>
                          <a:ea typeface="DejaVu Sans"/>
                          <a:cs typeface="DejaVu Sans"/>
                        </a:rPr>
                        <a:t>Partition</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2025" b="1">
                          <a:solidFill>
                            <a:srgbClr val="FFFFFF"/>
                          </a:solidFill>
                          <a:latin typeface="DejaVu Sans"/>
                          <a:ea typeface="DejaVu Sans"/>
                          <a:cs typeface="DejaVu Sans"/>
                        </a:rPr>
                        <a:t>Images</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2025" b="1">
                          <a:solidFill>
                            <a:srgbClr val="FFFFFF"/>
                          </a:solidFill>
                          <a:latin typeface="DejaVu Sans"/>
                          <a:ea typeface="DejaVu Sans"/>
                          <a:cs typeface="DejaVu Sans"/>
                        </a:rPr>
                        <a:t>Sources</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2025" b="1">
                          <a:solidFill>
                            <a:srgbClr val="FFFFFF"/>
                          </a:solidFill>
                          <a:latin typeface="DejaVu Sans"/>
                          <a:ea typeface="DejaVu Sans"/>
                          <a:cs typeface="DejaVu Sans"/>
                        </a:rPr>
                        <a:t>Good / 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614363">
                <a:tc>
                  <a:txBody>
                    <a:bodyPr lIns="95250" tIns="95250" rIns="95250" bIns="95250"/>
                    <a:lstStyle/>
                    <a:p>
                      <a:r>
                        <a:rPr sz="2025" b="0">
                          <a:solidFill>
                            <a:srgbClr val="172B4D"/>
                          </a:solidFill>
                          <a:latin typeface="DejaVu Sans"/>
                          <a:ea typeface="DejaVu Sans"/>
                          <a:cs typeface="DejaVu Sans"/>
                        </a:rPr>
                        <a:t>Training</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1,260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210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630 / 630</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14363">
                <a:tc>
                  <a:txBody>
                    <a:bodyPr lIns="95250" tIns="95250" rIns="95250" bIns="95250"/>
                    <a:lstStyle/>
                    <a:p>
                      <a:r>
                        <a:rPr sz="2025" b="0">
                          <a:solidFill>
                            <a:srgbClr val="172B4D"/>
                          </a:solidFill>
                          <a:latin typeface="DejaVu Sans"/>
                          <a:ea typeface="DejaVu Sans"/>
                          <a:cs typeface="DejaVu Sans"/>
                        </a:rPr>
                        <a:t>Validation</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270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45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135 / 135</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14363">
                <a:tc>
                  <a:txBody>
                    <a:bodyPr lIns="95250" tIns="95250" rIns="95250" bIns="95250"/>
                    <a:lstStyle/>
                    <a:p>
                      <a:r>
                        <a:rPr sz="2025" b="0">
                          <a:solidFill>
                            <a:srgbClr val="172B4D"/>
                          </a:solidFill>
                          <a:latin typeface="DejaVu Sans"/>
                          <a:ea typeface="DejaVu Sans"/>
                          <a:cs typeface="DejaVu Sans"/>
                        </a:rPr>
                        <a:t>Test</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270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45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2025" b="0">
                          <a:solidFill>
                            <a:srgbClr val="172B4D"/>
                          </a:solidFill>
                          <a:latin typeface="DejaVu Sans"/>
                          <a:ea typeface="DejaVu Sans"/>
                          <a:cs typeface="DejaVu Sans"/>
                        </a:rPr>
                        <a:t>135 / 135</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DCECB71F-C2A2-499A-88AA-9E3EFE57587F}"/>
              </a:ext>
            </a:extLst>
          </p:cNvPr>
          <p:cNvSpPr>
            <a:spLocks xmlns:a="http://schemas.openxmlformats.org/drawingml/2006/main" noGrp="1"/>
          </p:cNvSpPr>
          <p:nvPr/>
        </p:nvSpPr>
        <p:spPr>
          <a:xfrm xmlns:a="http://schemas.openxmlformats.org/drawingml/2006/main">
            <a:off x="609600" y="519112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72B4D"/>
                </a:solidFill>
                <a:latin typeface="DejaVu Sans"/>
                <a:ea typeface="DejaVu Sans"/>
                <a:cs typeface="DejaVu Sans"/>
              </a:defRPr>
            </a:defPPr>
            <a:lvl1pPr>
              <a:defRPr sz="2025" b="0">
                <a:solidFill>
                  <a:srgbClr val="172B4D"/>
                </a:solidFill>
                <a:latin typeface="DejaVu Sans"/>
                <a:ea typeface="DejaVu Sans"/>
                <a:cs typeface="DejaVu Sans"/>
              </a:defRPr>
            </a:lvl1pPr>
            <a:lvl2pPr>
              <a:defRPr sz="2025" b="0">
                <a:solidFill>
                  <a:srgbClr val="172B4D"/>
                </a:solidFill>
                <a:latin typeface="DejaVu Sans"/>
                <a:ea typeface="DejaVu Sans"/>
                <a:cs typeface="DejaVu Sans"/>
              </a:defRPr>
            </a:lvl2pPr>
            <a:lvl3pPr>
              <a:defRPr sz="2025" b="0">
                <a:solidFill>
                  <a:srgbClr val="172B4D"/>
                </a:solidFill>
                <a:latin typeface="DejaVu Sans"/>
                <a:ea typeface="DejaVu Sans"/>
                <a:cs typeface="DejaVu Sans"/>
              </a:defRPr>
            </a:lvl3pPr>
            <a:lvl4pPr>
              <a:defRPr sz="2025" b="0">
                <a:solidFill>
                  <a:srgbClr val="172B4D"/>
                </a:solidFill>
                <a:latin typeface="DejaVu Sans"/>
                <a:ea typeface="DejaVu Sans"/>
                <a:cs typeface="DejaVu Sans"/>
              </a:defRPr>
            </a:lvl4pPr>
            <a:lvl5pPr>
              <a:defRPr sz="2025" b="0">
                <a:solidFill>
                  <a:srgbClr val="172B4D"/>
                </a:solidFill>
                <a:latin typeface="DejaVu Sans"/>
                <a:ea typeface="DejaVu Sans"/>
                <a:cs typeface="DejaVu Sans"/>
              </a:defRPr>
            </a:lvl5pPr>
            <a:lvl6pPr>
              <a:defRPr sz="2025" b="0">
                <a:solidFill>
                  <a:srgbClr val="172B4D"/>
                </a:solidFill>
                <a:latin typeface="DejaVu Sans"/>
                <a:ea typeface="DejaVu Sans"/>
                <a:cs typeface="DejaVu Sans"/>
              </a:defRPr>
            </a:lvl6pPr>
            <a:lvl7pPr>
              <a:defRPr sz="2025" b="0">
                <a:solidFill>
                  <a:srgbClr val="172B4D"/>
                </a:solidFill>
                <a:latin typeface="DejaVu Sans"/>
                <a:ea typeface="DejaVu Sans"/>
                <a:cs typeface="DejaVu Sans"/>
              </a:defRPr>
            </a:lvl7pPr>
            <a:lvl8pPr>
              <a:defRPr sz="2025" b="0">
                <a:solidFill>
                  <a:srgbClr val="172B4D"/>
                </a:solidFill>
                <a:latin typeface="DejaVu Sans"/>
                <a:ea typeface="DejaVu Sans"/>
                <a:cs typeface="DejaVu Sans"/>
              </a:defRPr>
            </a:lvl8pPr>
            <a:lvl9pPr>
              <a:defRPr sz="2025" b="0">
                <a:solidFill>
                  <a:srgbClr val="172B4D"/>
                </a:solidFill>
                <a:latin typeface="DejaVu Sans"/>
                <a:ea typeface="DejaVu Sans"/>
                <a:cs typeface="DejaVu Sans"/>
              </a:defRPr>
            </a:lvl9pPr>
          </a:lstStyle>
          <a:p xmlns:a="http://schemas.openxmlformats.org/drawingml/2006/main">
            <a:pPr>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INN, passport and SNILS</a:t>
            </a:r>
          </a:p>
          <a:p xmlns:a="http://schemas.openxmlformats.org/drawingml/2006/main">
            <a:pPr>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All variants of each source stay in one partition</a:t>
            </a:r>
          </a:p>
        </p:txBody>
      </p:sp>
    </p:spTree>
    <p:extLst>
      <p:ext uri="{BB962C8B-B14F-4D97-AF65-F5344CB8AC3E}">
        <p14:creationId xmlns:p14="http://schemas.microsoft.com/office/powerpoint/2010/main" val="13895614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6918CC2-C02F-4C30-B160-4D081805AD9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Training and input conventions</a:t>
            </a:r>
          </a:p>
        </p:txBody>
      </p:sp>
      <p:sp>
        <p:nvSpPr>
          <p:cNvPr id="2" name="text-1">
            <a:extLst xmlns:a="http://schemas.openxmlformats.org/drawingml/2006/main">
              <a:ext uri="{FF2B5EF4-FFF2-40B4-BE49-F238E27FC236}">
                <a16:creationId xmlns:a16="http://schemas.microsoft.com/office/drawing/2014/main" id="{DF6EDD8D-A18B-4AB5-8D0D-38898243C031}"/>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03</a:t>
            </a:r>
          </a:p>
        </p:txBody>
      </p:sp>
      <p:graphicFrame>
        <p:nvGraphicFramePr>
          <p:cNvPr id="3" name="">
            <a:extLst xmlns:a="http://schemas.openxmlformats.org/drawingml/2006/main">
              <a:ext uri="{FF2B5EF4-FFF2-40B4-BE49-F238E27FC236}">
                <a16:creationId xmlns:a16="http://schemas.microsoft.com/office/drawing/2014/main" id="{0D4ECDC3-905C-47A1-B683-C8C747A5E7AA}"/>
              </a:ext>
            </a:extLst>
          </p:cNvPr>
          <p:cNvGraphicFramePr/>
          <p:nvPr/>
        </p:nvGraphicFramePr>
        <p:xfrm>
          <a:off xmlns:a="http://schemas.openxmlformats.org/drawingml/2006/main" x="609600" y="1571625"/>
          <a:ext xmlns:a="http://schemas.openxmlformats.org/drawingml/2006/main" cx="10972800" cy="2428875"/>
        </p:xfrm>
        <a:graphic xmlns:a="http://schemas.openxmlformats.org/drawingml/2006/main">
          <a:graphicData uri="http://schemas.openxmlformats.org/drawingml/2006/table">
            <a:tbl>
              <a:tblPr firstRow="0" bandRow="0"/>
              <a:tblGrid>
                <a:gridCol w="3143250"/>
                <a:gridCol w="4857750"/>
                <a:gridCol w="2971800"/>
              </a:tblGrid>
              <a:tr h="607219">
                <a:tc>
                  <a:txBody>
                    <a:bodyPr lIns="95250" tIns="95250" rIns="95250" bIns="95250"/>
                    <a:lstStyle/>
                    <a:p>
                      <a:r>
                        <a:rPr sz="1950" b="1">
                          <a:solidFill>
                            <a:srgbClr val="FFFFFF"/>
                          </a:solidFill>
                          <a:latin typeface="DejaVu Sans"/>
                          <a:ea typeface="DejaVu Sans"/>
                          <a:cs typeface="DejaVu Sans"/>
                        </a:rPr>
                        <a:t>Candidate</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950" b="1">
                          <a:solidFill>
                            <a:srgbClr val="FFFFFF"/>
                          </a:solidFill>
                          <a:latin typeface="DejaVu Sans"/>
                          <a:ea typeface="DejaVu Sans"/>
                          <a:cs typeface="DejaVu Sans"/>
                        </a:rPr>
                        <a:t>Training regime</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950" b="1">
                          <a:solidFill>
                            <a:srgbClr val="FFFFFF"/>
                          </a:solidFill>
                          <a:latin typeface="DejaVu Sans"/>
                          <a:ea typeface="DejaVu Sans"/>
                          <a:cs typeface="DejaVu Sans"/>
                        </a:rPr>
                        <a:t>Base learning rate</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607219">
                <a:tc>
                  <a:txBody>
                    <a:bodyPr lIns="95250" tIns="95250" rIns="95250" bIns="95250"/>
                    <a:lstStyle/>
                    <a:p>
                      <a:r>
                        <a:rPr sz="1950" b="0">
                          <a:solidFill>
                            <a:srgbClr val="172B4D"/>
                          </a:solidFill>
                          <a:latin typeface="DejaVu Sans"/>
                          <a:ea typeface="DejaVu Sans"/>
                          <a:cs typeface="DejaVu Sans"/>
                        </a:rPr>
                        <a:t>MobileNetV2</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950" b="0">
                          <a:solidFill>
                            <a:srgbClr val="172B4D"/>
                          </a:solidFill>
                          <a:latin typeface="DejaVu Sans"/>
                          <a:ea typeface="DejaVu Sans"/>
                          <a:cs typeface="DejaVu Sans"/>
                        </a:rPr>
                        <a:t>Frozen base, train head</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950" b="0">
                          <a:solidFill>
                            <a:srgbClr val="172B4D"/>
                          </a:solidFill>
                          <a:latin typeface="DejaVu Sans"/>
                          <a:ea typeface="DejaVu Sans"/>
                          <a:cs typeface="DejaVu Sans"/>
                        </a:rPr>
                        <a:t>0.001</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7219">
                <a:tc>
                  <a:txBody>
                    <a:bodyPr lIns="95250" tIns="95250" rIns="95250" bIns="95250"/>
                    <a:lstStyle/>
                    <a:p>
                      <a:r>
                        <a:rPr sz="1950" b="0">
                          <a:solidFill>
                            <a:srgbClr val="172B4D"/>
                          </a:solidFill>
                          <a:latin typeface="DejaVu Sans"/>
                          <a:ea typeface="DejaVu Sans"/>
                          <a:cs typeface="DejaVu Sans"/>
                        </a:rPr>
                        <a:t>EfficientNetB0</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950" b="0">
                          <a:solidFill>
                            <a:srgbClr val="172B4D"/>
                          </a:solidFill>
                          <a:latin typeface="DejaVu Sans"/>
                          <a:ea typeface="DejaVu Sans"/>
                          <a:cs typeface="DejaVu Sans"/>
                        </a:rPr>
                        <a:t>Frozen base, train head</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950" b="0">
                          <a:solidFill>
                            <a:srgbClr val="172B4D"/>
                          </a:solidFill>
                          <a:latin typeface="DejaVu Sans"/>
                          <a:ea typeface="DejaVu Sans"/>
                          <a:cs typeface="DejaVu Sans"/>
                        </a:rPr>
                        <a:t>0.001</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7219">
                <a:tc>
                  <a:txBody>
                    <a:bodyPr lIns="95250" tIns="95250" rIns="95250" bIns="95250"/>
                    <a:lstStyle/>
                    <a:p>
                      <a:r>
                        <a:rPr sz="1950" b="0">
                          <a:solidFill>
                            <a:srgbClr val="172B4D"/>
                          </a:solidFill>
                          <a:latin typeface="DejaVu Sans"/>
                          <a:ea typeface="DejaVu Sans"/>
                          <a:cs typeface="DejaVu Sans"/>
                        </a:rPr>
                        <a:t>YOLOv8n / v8s</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950" b="0">
                          <a:solidFill>
                            <a:srgbClr val="172B4D"/>
                          </a:solidFill>
                          <a:latin typeface="DejaVu Sans"/>
                          <a:ea typeface="DejaVu Sans"/>
                          <a:cs typeface="DejaVu Sans"/>
                        </a:rPr>
                        <a:t>Full fine-tuning</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950" b="0">
                          <a:solidFill>
                            <a:srgbClr val="172B4D"/>
                          </a:solidFill>
                          <a:latin typeface="DejaVu Sans"/>
                          <a:ea typeface="DejaVu Sans"/>
                          <a:cs typeface="DejaVu Sans"/>
                        </a:rPr>
                        <a:t>0.0001</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A1FF9D5E-8D04-4241-992B-81130E2173EB}"/>
              </a:ext>
            </a:extLst>
          </p:cNvPr>
          <p:cNvSpPr>
            <a:spLocks xmlns:a="http://schemas.openxmlformats.org/drawingml/2006/main" noGrp="1"/>
          </p:cNvSpPr>
          <p:nvPr/>
        </p:nvSpPr>
        <p:spPr>
          <a:xfrm xmlns:a="http://schemas.openxmlformats.org/drawingml/2006/main">
            <a:off x="609600" y="4457700"/>
            <a:ext cx="109728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72B4D"/>
                </a:solidFill>
                <a:latin typeface="DejaVu Sans"/>
                <a:ea typeface="DejaVu Sans"/>
                <a:cs typeface="DejaVu Sans"/>
              </a:defRPr>
            </a:defPPr>
            <a:lvl1pPr>
              <a:defRPr sz="2100" b="0">
                <a:solidFill>
                  <a:srgbClr val="172B4D"/>
                </a:solidFill>
                <a:latin typeface="DejaVu Sans"/>
                <a:ea typeface="DejaVu Sans"/>
                <a:cs typeface="DejaVu Sans"/>
              </a:defRPr>
            </a:lvl1pPr>
            <a:lvl2pPr>
              <a:defRPr sz="2100" b="0">
                <a:solidFill>
                  <a:srgbClr val="172B4D"/>
                </a:solidFill>
                <a:latin typeface="DejaVu Sans"/>
                <a:ea typeface="DejaVu Sans"/>
                <a:cs typeface="DejaVu Sans"/>
              </a:defRPr>
            </a:lvl2pPr>
            <a:lvl3pPr>
              <a:defRPr sz="2100" b="0">
                <a:solidFill>
                  <a:srgbClr val="172B4D"/>
                </a:solidFill>
                <a:latin typeface="DejaVu Sans"/>
                <a:ea typeface="DejaVu Sans"/>
                <a:cs typeface="DejaVu Sans"/>
              </a:defRPr>
            </a:lvl3pPr>
            <a:lvl4pPr>
              <a:defRPr sz="2100" b="0">
                <a:solidFill>
                  <a:srgbClr val="172B4D"/>
                </a:solidFill>
                <a:latin typeface="DejaVu Sans"/>
                <a:ea typeface="DejaVu Sans"/>
                <a:cs typeface="DejaVu Sans"/>
              </a:defRPr>
            </a:lvl4pPr>
            <a:lvl5pPr>
              <a:defRPr sz="2100" b="0">
                <a:solidFill>
                  <a:srgbClr val="172B4D"/>
                </a:solidFill>
                <a:latin typeface="DejaVu Sans"/>
                <a:ea typeface="DejaVu Sans"/>
                <a:cs typeface="DejaVu Sans"/>
              </a:defRPr>
            </a:lvl5pPr>
            <a:lvl6pPr>
              <a:defRPr sz="2100" b="0">
                <a:solidFill>
                  <a:srgbClr val="172B4D"/>
                </a:solidFill>
                <a:latin typeface="DejaVu Sans"/>
                <a:ea typeface="DejaVu Sans"/>
                <a:cs typeface="DejaVu Sans"/>
              </a:defRPr>
            </a:lvl6pPr>
            <a:lvl7pPr>
              <a:defRPr sz="2100" b="0">
                <a:solidFill>
                  <a:srgbClr val="172B4D"/>
                </a:solidFill>
                <a:latin typeface="DejaVu Sans"/>
                <a:ea typeface="DejaVu Sans"/>
                <a:cs typeface="DejaVu Sans"/>
              </a:defRPr>
            </a:lvl7pPr>
            <a:lvl8pPr>
              <a:defRPr sz="2100" b="0">
                <a:solidFill>
                  <a:srgbClr val="172B4D"/>
                </a:solidFill>
                <a:latin typeface="DejaVu Sans"/>
                <a:ea typeface="DejaVu Sans"/>
                <a:cs typeface="DejaVu Sans"/>
              </a:defRPr>
            </a:lvl8pPr>
            <a:lvl9pPr>
              <a:defRPr sz="2100" b="0">
                <a:solidFill>
                  <a:srgbClr val="172B4D"/>
                </a:solidFill>
                <a:latin typeface="DejaVu Sans"/>
                <a:ea typeface="DejaVu Sans"/>
                <a:cs typeface="DejaVu Sans"/>
              </a:defRPr>
            </a:lvl9pPr>
          </a:lstStyle>
          <a:p xmlns:a="http://schemas.openxmlformats.org/drawingml/2006/main">
            <a:pPr>
              <a:defRPr sz="2100" b="0">
                <a:solidFill>
                  <a:srgbClr val="172B4D"/>
                </a:solidFill>
                <a:latin typeface="DejaVu Sans"/>
                <a:ea typeface="DejaVu Sans"/>
                <a:cs typeface="DejaVu Sans"/>
              </a:defRPr>
            </a:pPr>
            <a:r>
              <a:rPr sz="2100" b="0">
                <a:solidFill>
                  <a:srgbClr val="172B4D"/>
                </a:solidFill>
                <a:latin typeface="DejaVu Sans"/>
                <a:ea typeface="DejaVu Sans"/>
                <a:cs typeface="DejaVu Sans"/>
              </a:rPr>
              <a:t>Whole RGB image, 224 × 224, batch 16</a:t>
            </a:r>
          </a:p>
          <a:p xmlns:a="http://schemas.openxmlformats.org/drawingml/2006/main">
            <a:pPr>
              <a:defRPr sz="2100" b="0">
                <a:solidFill>
                  <a:srgbClr val="172B4D"/>
                </a:solidFill>
                <a:latin typeface="DejaVu Sans"/>
                <a:ea typeface="DejaVu Sans"/>
                <a:cs typeface="DejaVu Sans"/>
              </a:defRPr>
            </a:pPr>
            <a:r>
              <a:rPr sz="2100" b="0">
                <a:solidFill>
                  <a:srgbClr val="172B4D"/>
                </a:solidFill>
                <a:latin typeface="DejaVu Sans"/>
                <a:ea typeface="DejaVu Sans"/>
                <a:cs typeface="DejaVu Sans"/>
              </a:rPr>
              <a:t>Maximum 15 epochs, patience 4, dropout 0.3</a:t>
            </a:r>
          </a:p>
          <a:p xmlns:a="http://schemas.openxmlformats.org/drawingml/2006/main">
            <a:pPr>
              <a:defRPr sz="2100" b="0">
                <a:solidFill>
                  <a:srgbClr val="172B4D"/>
                </a:solidFill>
                <a:latin typeface="DejaVu Sans"/>
                <a:ea typeface="DejaVu Sans"/>
                <a:cs typeface="DejaVu Sans"/>
              </a:defRPr>
            </a:pPr>
            <a:r>
              <a:rPr sz="2100" b="0">
                <a:solidFill>
                  <a:srgbClr val="172B4D"/>
                </a:solidFill>
                <a:latin typeface="DejaVu Sans"/>
                <a:ea typeface="DejaVu Sans"/>
                <a:cs typeface="DejaVu Sans"/>
              </a:rPr>
              <a:t>Fixed threshold 0.5, positive class bad</a:t>
            </a:r>
          </a:p>
        </p:txBody>
      </p:sp>
    </p:spTree>
    <p:extLst>
      <p:ext uri="{BB962C8B-B14F-4D97-AF65-F5344CB8AC3E}">
        <p14:creationId xmlns:p14="http://schemas.microsoft.com/office/powerpoint/2010/main" val="374252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6D52A35-3E37-4191-B34A-B7A47C2FF59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Final test results</a:t>
            </a:r>
          </a:p>
        </p:txBody>
      </p:sp>
      <p:sp>
        <p:nvSpPr>
          <p:cNvPr id="2" name="text-1">
            <a:extLst xmlns:a="http://schemas.openxmlformats.org/drawingml/2006/main">
              <a:ext uri="{FF2B5EF4-FFF2-40B4-BE49-F238E27FC236}">
                <a16:creationId xmlns:a16="http://schemas.microsoft.com/office/drawing/2014/main" id="{4401A86A-0295-466D-A314-DBA0A880256C}"/>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04</a:t>
            </a:r>
          </a:p>
        </p:txBody>
      </p:sp>
      <p:graphicFrame>
        <p:nvGraphicFramePr>
          <p:cNvPr id="3" name="">
            <a:extLst xmlns:a="http://schemas.openxmlformats.org/drawingml/2006/main">
              <a:ext uri="{FF2B5EF4-FFF2-40B4-BE49-F238E27FC236}">
                <a16:creationId xmlns:a16="http://schemas.microsoft.com/office/drawing/2014/main" id="{32139F44-22EE-41EA-8897-3B9CF1D75C30}"/>
              </a:ext>
            </a:extLst>
          </p:cNvPr>
          <p:cNvGraphicFramePr/>
          <p:nvPr/>
        </p:nvGraphicFramePr>
        <p:xfrm>
          <a:off xmlns:a="http://schemas.openxmlformats.org/drawingml/2006/main" x="609600" y="1647825"/>
          <a:ext xmlns:a="http://schemas.openxmlformats.org/drawingml/2006/main" cx="10972800" cy="3048000"/>
        </p:xfrm>
        <a:graphic xmlns:a="http://schemas.openxmlformats.org/drawingml/2006/main">
          <a:graphicData uri="http://schemas.openxmlformats.org/drawingml/2006/table">
            <a:tbl>
              <a:tblPr firstRow="0" bandRow="0"/>
              <a:tblGrid>
                <a:gridCol w="2609850"/>
                <a:gridCol w="1714500"/>
                <a:gridCol w="1714500"/>
                <a:gridCol w="1809750"/>
                <a:gridCol w="1714500"/>
                <a:gridCol w="1409700"/>
              </a:tblGrid>
              <a:tr h="609600">
                <a:tc>
                  <a:txBody>
                    <a:bodyPr lIns="95250" tIns="95250" rIns="95250" bIns="95250"/>
                    <a:lstStyle/>
                    <a:p>
                      <a:r>
                        <a:rPr sz="1800" b="1">
                          <a:solidFill>
                            <a:srgbClr val="FFFFFF"/>
                          </a:solidFill>
                          <a:latin typeface="DejaVu Sans"/>
                          <a:ea typeface="DejaVu Sans"/>
                          <a:cs typeface="DejaVu Sans"/>
                        </a:rPr>
                        <a:t>Model</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Accuracy</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Precision</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Recall 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F1 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Misses</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609600">
                <a:tc>
                  <a:txBody>
                    <a:bodyPr lIns="95250" tIns="95250" rIns="95250" bIns="95250"/>
                    <a:lstStyle/>
                    <a:p>
                      <a:r>
                        <a:rPr sz="1800" b="0">
                          <a:solidFill>
                            <a:srgbClr val="172B4D"/>
                          </a:solidFill>
                          <a:latin typeface="DejaVu Sans"/>
                          <a:ea typeface="DejaVu Sans"/>
                          <a:cs typeface="DejaVu Sans"/>
                        </a:rPr>
                        <a:t>MobileNetV2</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99.63%</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1.0000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0.9926</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0.9963</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9600">
                <a:tc>
                  <a:txBody>
                    <a:bodyPr lIns="95250" tIns="95250" rIns="95250" bIns="95250"/>
                    <a:lstStyle/>
                    <a:p>
                      <a:r>
                        <a:rPr sz="1800" b="0">
                          <a:solidFill>
                            <a:srgbClr val="172B4D"/>
                          </a:solidFill>
                          <a:latin typeface="DejaVu Sans"/>
                          <a:ea typeface="DejaVu Sans"/>
                          <a:cs typeface="DejaVu Sans"/>
                        </a:rPr>
                        <a:t>EfficientNetB0</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98.89%</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1.0000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0.9778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0.9888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3</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9600">
                <a:tc>
                  <a:txBody>
                    <a:bodyPr lIns="95250" tIns="95250" rIns="95250" bIns="95250"/>
                    <a:lstStyle/>
                    <a:p>
                      <a:r>
                        <a:rPr sz="1800" b="0">
                          <a:solidFill>
                            <a:srgbClr val="172B4D"/>
                          </a:solidFill>
                          <a:latin typeface="DejaVu Sans"/>
                          <a:ea typeface="DejaVu Sans"/>
                          <a:cs typeface="DejaVu Sans"/>
                        </a:rPr>
                        <a:t>YOLOv8n-cls</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98.89%</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1.0000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0.9778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0.9888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3</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9600">
                <a:tc>
                  <a:txBody>
                    <a:bodyPr lIns="95250" tIns="95250" rIns="95250" bIns="95250"/>
                    <a:lstStyle/>
                    <a:p>
                      <a:r>
                        <a:rPr sz="1800" b="0">
                          <a:solidFill>
                            <a:srgbClr val="172B4D"/>
                          </a:solidFill>
                          <a:latin typeface="DejaVu Sans"/>
                          <a:ea typeface="DejaVu Sans"/>
                          <a:cs typeface="DejaVu Sans"/>
                        </a:rPr>
                        <a:t>YOLOv8s-cls</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99.26%</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1.0000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0.9852</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0.9925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2</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199A51F-9516-454C-B590-956C14DB8B13}"/>
              </a:ext>
            </a:extLst>
          </p:cNvPr>
          <p:cNvSpPr>
            <a:spLocks xmlns:a="http://schemas.openxmlformats.org/drawingml/2006/main" noGrp="1"/>
          </p:cNvSpPr>
          <p:nvPr/>
        </p:nvSpPr>
        <p:spPr>
          <a:xfrm xmlns:a="http://schemas.openxmlformats.org/drawingml/2006/main">
            <a:off x="609600" y="519112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72B4D"/>
                </a:solidFill>
                <a:latin typeface="DejaVu Sans"/>
                <a:ea typeface="DejaVu Sans"/>
                <a:cs typeface="DejaVu Sans"/>
              </a:defRPr>
            </a:defPPr>
            <a:lvl1pPr>
              <a:defRPr sz="2100" b="0">
                <a:solidFill>
                  <a:srgbClr val="172B4D"/>
                </a:solidFill>
                <a:latin typeface="DejaVu Sans"/>
                <a:ea typeface="DejaVu Sans"/>
                <a:cs typeface="DejaVu Sans"/>
              </a:defRPr>
            </a:lvl1pPr>
            <a:lvl2pPr>
              <a:defRPr sz="2100" b="0">
                <a:solidFill>
                  <a:srgbClr val="172B4D"/>
                </a:solidFill>
                <a:latin typeface="DejaVu Sans"/>
                <a:ea typeface="DejaVu Sans"/>
                <a:cs typeface="DejaVu Sans"/>
              </a:defRPr>
            </a:lvl2pPr>
            <a:lvl3pPr>
              <a:defRPr sz="2100" b="0">
                <a:solidFill>
                  <a:srgbClr val="172B4D"/>
                </a:solidFill>
                <a:latin typeface="DejaVu Sans"/>
                <a:ea typeface="DejaVu Sans"/>
                <a:cs typeface="DejaVu Sans"/>
              </a:defRPr>
            </a:lvl3pPr>
            <a:lvl4pPr>
              <a:defRPr sz="2100" b="0">
                <a:solidFill>
                  <a:srgbClr val="172B4D"/>
                </a:solidFill>
                <a:latin typeface="DejaVu Sans"/>
                <a:ea typeface="DejaVu Sans"/>
                <a:cs typeface="DejaVu Sans"/>
              </a:defRPr>
            </a:lvl4pPr>
            <a:lvl5pPr>
              <a:defRPr sz="2100" b="0">
                <a:solidFill>
                  <a:srgbClr val="172B4D"/>
                </a:solidFill>
                <a:latin typeface="DejaVu Sans"/>
                <a:ea typeface="DejaVu Sans"/>
                <a:cs typeface="DejaVu Sans"/>
              </a:defRPr>
            </a:lvl5pPr>
            <a:lvl6pPr>
              <a:defRPr sz="2100" b="0">
                <a:solidFill>
                  <a:srgbClr val="172B4D"/>
                </a:solidFill>
                <a:latin typeface="DejaVu Sans"/>
                <a:ea typeface="DejaVu Sans"/>
                <a:cs typeface="DejaVu Sans"/>
              </a:defRPr>
            </a:lvl6pPr>
            <a:lvl7pPr>
              <a:defRPr sz="2100" b="0">
                <a:solidFill>
                  <a:srgbClr val="172B4D"/>
                </a:solidFill>
                <a:latin typeface="DejaVu Sans"/>
                <a:ea typeface="DejaVu Sans"/>
                <a:cs typeface="DejaVu Sans"/>
              </a:defRPr>
            </a:lvl7pPr>
            <a:lvl8pPr>
              <a:defRPr sz="2100" b="0">
                <a:solidFill>
                  <a:srgbClr val="172B4D"/>
                </a:solidFill>
                <a:latin typeface="DejaVu Sans"/>
                <a:ea typeface="DejaVu Sans"/>
                <a:cs typeface="DejaVu Sans"/>
              </a:defRPr>
            </a:lvl8pPr>
            <a:lvl9pPr>
              <a:defRPr sz="2100" b="0">
                <a:solidFill>
                  <a:srgbClr val="172B4D"/>
                </a:solidFill>
                <a:latin typeface="DejaVu Sans"/>
                <a:ea typeface="DejaVu Sans"/>
                <a:cs typeface="DejaVu Sans"/>
              </a:defRPr>
            </a:lvl9pPr>
          </a:lstStyle>
          <a:p xmlns:a="http://schemas.openxmlformats.org/drawingml/2006/main">
            <a:pPr>
              <a:defRPr sz="2100" b="0">
                <a:solidFill>
                  <a:srgbClr val="172B4D"/>
                </a:solidFill>
                <a:latin typeface="DejaVu Sans"/>
                <a:ea typeface="DejaVu Sans"/>
                <a:cs typeface="DejaVu Sans"/>
              </a:defRPr>
            </a:pPr>
            <a:r>
              <a:rPr sz="2100" b="0">
                <a:solidFill>
                  <a:srgbClr val="172B4D"/>
                </a:solidFill>
                <a:latin typeface="DejaVu Sans"/>
                <a:ea typeface="DejaVu Sans"/>
                <a:cs typeface="DejaVu Sans"/>
              </a:rPr>
              <a:t>270 test images: 135 good and 135 bad</a:t>
            </a:r>
          </a:p>
          <a:p xmlns:a="http://schemas.openxmlformats.org/drawingml/2006/main">
            <a:pPr>
              <a:defRPr sz="2100" b="0">
                <a:solidFill>
                  <a:srgbClr val="172B4D"/>
                </a:solidFill>
                <a:latin typeface="DejaVu Sans"/>
                <a:ea typeface="DejaVu Sans"/>
                <a:cs typeface="DejaVu Sans"/>
              </a:defRPr>
            </a:pPr>
            <a:r>
              <a:rPr sz="2100" b="0">
                <a:solidFill>
                  <a:srgbClr val="172B4D"/>
                </a:solidFill>
                <a:latin typeface="DejaVu Sans"/>
                <a:ea typeface="DejaVu Sans"/>
                <a:cs typeface="DejaVu Sans"/>
              </a:rPr>
              <a:t>All errors are false accepts of defective captures</a:t>
            </a:r>
          </a:p>
        </p:txBody>
      </p:sp>
    </p:spTree>
    <p:extLst>
      <p:ext uri="{BB962C8B-B14F-4D97-AF65-F5344CB8AC3E}">
        <p14:creationId xmlns:p14="http://schemas.microsoft.com/office/powerpoint/2010/main" val="10919403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25B0746-6E0D-4A42-BDBC-ACC950DD637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Accuracy and CPU inference cost</a:t>
            </a:r>
          </a:p>
        </p:txBody>
      </p:sp>
      <p:sp>
        <p:nvSpPr>
          <p:cNvPr id="2" name="text-1">
            <a:extLst xmlns:a="http://schemas.openxmlformats.org/drawingml/2006/main">
              <a:ext uri="{FF2B5EF4-FFF2-40B4-BE49-F238E27FC236}">
                <a16:creationId xmlns:a16="http://schemas.microsoft.com/office/drawing/2014/main" id="{99E775A1-6A74-4CC5-9F99-3486991D42EF}"/>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05</a:t>
            </a:r>
          </a:p>
        </p:txBody>
      </p:sp>
      <p:graphicFrame>
        <p:nvGraphicFramePr>
          <p:cNvPr id="3" name="Chart">
            <a:extLst xmlns:a="http://schemas.openxmlformats.org/drawingml/2006/main">
              <a:ext uri="{FF2B5EF4-FFF2-40B4-BE49-F238E27FC236}">
                <a16:creationId xmlns:a16="http://schemas.microsoft.com/office/drawing/2014/main" id="{69C5054E-38F5-4559-BD1F-B79416A9D731}"/>
              </a:ext>
            </a:extLst>
          </p:cNvPr>
          <p:cNvGraphicFramePr/>
          <p:nvPr/>
        </p:nvGraphicFramePr>
        <p:xfrm>
          <a:off xmlns:a="http://schemas.openxmlformats.org/drawingml/2006/main" x="619125" y="1381125"/>
          <a:ext xmlns:a="http://schemas.openxmlformats.org/drawingml/2006/main" cx="10953750" cy="4191000"/>
        </p:xfrm>
        <a:graphic xmlns:a="http://schemas.openxmlformats.org/drawingml/2006/main">
          <a:graphicData uri="http://schemas.openxmlformats.org/drawingml/2006/chart">
            <c:chart xmlns:r="http://schemas.openxmlformats.org/officeDocument/2006/relationships" xmlns:c="http://schemas.openxmlformats.org/drawingml/2006/chart" r:id="R330dccd0ff814994"/>
          </a:graphicData>
        </a:graphic>
      </p:graphicFrame>
      <p:sp>
        <p:nvSpPr>
          <p:cNvPr id="4" name="text-2">
            <a:extLst xmlns:a="http://schemas.openxmlformats.org/drawingml/2006/main">
              <a:ext uri="{FF2B5EF4-FFF2-40B4-BE49-F238E27FC236}">
                <a16:creationId xmlns:a16="http://schemas.microsoft.com/office/drawing/2014/main" id="{AA212B6C-11D0-40D8-91C6-0D2C7FF20702}"/>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506075"/>
                </a:solidFill>
                <a:latin typeface="DejaVu Sans"/>
                <a:ea typeface="DejaVu Sans"/>
                <a:cs typeface="DejaVu Sans"/>
              </a:defRPr>
            </a:defPPr>
            <a:lvl1pPr>
              <a:defRPr sz="1650" b="0">
                <a:solidFill>
                  <a:srgbClr val="506075"/>
                </a:solidFill>
                <a:latin typeface="DejaVu Sans"/>
                <a:ea typeface="DejaVu Sans"/>
                <a:cs typeface="DejaVu Sans"/>
              </a:defRPr>
            </a:lvl1pPr>
            <a:lvl2pPr>
              <a:defRPr sz="1650" b="0">
                <a:solidFill>
                  <a:srgbClr val="506075"/>
                </a:solidFill>
                <a:latin typeface="DejaVu Sans"/>
                <a:ea typeface="DejaVu Sans"/>
                <a:cs typeface="DejaVu Sans"/>
              </a:defRPr>
            </a:lvl2pPr>
            <a:lvl3pPr>
              <a:defRPr sz="1650" b="0">
                <a:solidFill>
                  <a:srgbClr val="506075"/>
                </a:solidFill>
                <a:latin typeface="DejaVu Sans"/>
                <a:ea typeface="DejaVu Sans"/>
                <a:cs typeface="DejaVu Sans"/>
              </a:defRPr>
            </a:lvl3pPr>
            <a:lvl4pPr>
              <a:defRPr sz="1650" b="0">
                <a:solidFill>
                  <a:srgbClr val="506075"/>
                </a:solidFill>
                <a:latin typeface="DejaVu Sans"/>
                <a:ea typeface="DejaVu Sans"/>
                <a:cs typeface="DejaVu Sans"/>
              </a:defRPr>
            </a:lvl4pPr>
            <a:lvl5pPr>
              <a:defRPr sz="1650" b="0">
                <a:solidFill>
                  <a:srgbClr val="506075"/>
                </a:solidFill>
                <a:latin typeface="DejaVu Sans"/>
                <a:ea typeface="DejaVu Sans"/>
                <a:cs typeface="DejaVu Sans"/>
              </a:defRPr>
            </a:lvl5pPr>
            <a:lvl6pPr>
              <a:defRPr sz="1650" b="0">
                <a:solidFill>
                  <a:srgbClr val="506075"/>
                </a:solidFill>
                <a:latin typeface="DejaVu Sans"/>
                <a:ea typeface="DejaVu Sans"/>
                <a:cs typeface="DejaVu Sans"/>
              </a:defRPr>
            </a:lvl6pPr>
            <a:lvl7pPr>
              <a:defRPr sz="1650" b="0">
                <a:solidFill>
                  <a:srgbClr val="506075"/>
                </a:solidFill>
                <a:latin typeface="DejaVu Sans"/>
                <a:ea typeface="DejaVu Sans"/>
                <a:cs typeface="DejaVu Sans"/>
              </a:defRPr>
            </a:lvl7pPr>
            <a:lvl8pPr>
              <a:defRPr sz="1650" b="0">
                <a:solidFill>
                  <a:srgbClr val="506075"/>
                </a:solidFill>
                <a:latin typeface="DejaVu Sans"/>
                <a:ea typeface="DejaVu Sans"/>
                <a:cs typeface="DejaVu Sans"/>
              </a:defRPr>
            </a:lvl8pPr>
            <a:lvl9pPr>
              <a:defRPr sz="1650" b="0">
                <a:solidFill>
                  <a:srgbClr val="506075"/>
                </a:solidFill>
                <a:latin typeface="DejaVu Sans"/>
                <a:ea typeface="DejaVu Sans"/>
                <a:cs typeface="DejaVu Sans"/>
              </a:defRPr>
            </a:lvl9pPr>
          </a:lstStyle>
          <a:p xmlns:a="http://schemas.openxmlformats.org/drawingml/2006/main">
            <a:pPr>
              <a:defRPr sz="1650" b="0">
                <a:solidFill>
                  <a:srgbClr val="506075"/>
                </a:solidFill>
                <a:latin typeface="DejaVu Sans"/>
                <a:ea typeface="DejaVu Sans"/>
                <a:cs typeface="DejaVu Sans"/>
              </a:defRPr>
            </a:pPr>
            <a:r>
              <a:rPr sz="1650" b="0">
                <a:solidFill>
                  <a:srgbClr val="506075"/>
                </a:solidFill>
                <a:latin typeface="DejaVu Sans"/>
                <a:ea typeface="DejaVu Sans"/>
                <a:cs typeface="DejaVu Sans"/>
              </a:rPr>
              <a:t>CPU, batch one. Resize + conversion + inference. Disk I/O and decode excluded.</a:t>
            </a:r>
          </a:p>
        </p:txBody>
      </p:sp>
    </p:spTree>
    <p:extLst>
      <p:ext uri="{BB962C8B-B14F-4D97-AF65-F5344CB8AC3E}">
        <p14:creationId xmlns:p14="http://schemas.microsoft.com/office/powerpoint/2010/main" val="2870532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41B24AB-937B-4D1F-BF20-BD094F67C28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Learning curves and checkpoint choice</a:t>
            </a:r>
          </a:p>
        </p:txBody>
      </p:sp>
      <p:sp>
        <p:nvSpPr>
          <p:cNvPr id="2" name="text-1">
            <a:extLst xmlns:a="http://schemas.openxmlformats.org/drawingml/2006/main">
              <a:ext uri="{FF2B5EF4-FFF2-40B4-BE49-F238E27FC236}">
                <a16:creationId xmlns:a16="http://schemas.microsoft.com/office/drawing/2014/main" id="{FA5F00BA-9387-4EE2-B0BB-B33AE383DA16}"/>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06</a:t>
            </a:r>
          </a:p>
        </p:txBody>
      </p:sp>
      <p:graphicFrame>
        <p:nvGraphicFramePr>
          <p:cNvPr id="3" name="Chart">
            <a:extLst xmlns:a="http://schemas.openxmlformats.org/drawingml/2006/main">
              <a:ext uri="{FF2B5EF4-FFF2-40B4-BE49-F238E27FC236}">
                <a16:creationId xmlns:a16="http://schemas.microsoft.com/office/drawing/2014/main" id="{84BD36EB-4F53-4B45-AAB6-DED56E2E8ADC}"/>
              </a:ext>
            </a:extLst>
          </p:cNvPr>
          <p:cNvGraphicFramePr/>
          <p:nvPr/>
        </p:nvGraphicFramePr>
        <p:xfrm>
          <a:off xmlns:a="http://schemas.openxmlformats.org/drawingml/2006/main" x="428625" y="1381125"/>
          <a:ext xmlns:a="http://schemas.openxmlformats.org/drawingml/2006/main" cx="5524500" cy="3714750"/>
        </p:xfrm>
        <a:graphic xmlns:a="http://schemas.openxmlformats.org/drawingml/2006/main">
          <a:graphicData uri="http://schemas.openxmlformats.org/drawingml/2006/chart">
            <c:chart xmlns:r="http://schemas.openxmlformats.org/officeDocument/2006/relationships" xmlns:c="http://schemas.openxmlformats.org/drawingml/2006/chart" r:id="R5b21131b94154f44"/>
          </a:graphicData>
        </a:graphic>
      </p:graphicFrame>
      <p:graphicFrame>
        <p:nvGraphicFramePr>
          <p:cNvPr id="4" name="Chart">
            <a:extLst xmlns:a="http://schemas.openxmlformats.org/drawingml/2006/main">
              <a:ext uri="{FF2B5EF4-FFF2-40B4-BE49-F238E27FC236}">
                <a16:creationId xmlns:a16="http://schemas.microsoft.com/office/drawing/2014/main" id="{9E24B647-5D00-482D-B7BE-6E0E3923A85D}"/>
              </a:ext>
            </a:extLst>
          </p:cNvPr>
          <p:cNvGraphicFramePr/>
          <p:nvPr/>
        </p:nvGraphicFramePr>
        <p:xfrm>
          <a:off xmlns:a="http://schemas.openxmlformats.org/drawingml/2006/main" x="6238875" y="1381125"/>
          <a:ext xmlns:a="http://schemas.openxmlformats.org/drawingml/2006/main" cx="5524500" cy="3714750"/>
        </p:xfrm>
        <a:graphic xmlns:a="http://schemas.openxmlformats.org/drawingml/2006/main">
          <a:graphicData uri="http://schemas.openxmlformats.org/drawingml/2006/chart">
            <c:chart xmlns:r="http://schemas.openxmlformats.org/officeDocument/2006/relationships" xmlns:c="http://schemas.openxmlformats.org/drawingml/2006/chart" r:id="Rd461afccc1e0484a"/>
          </a:graphicData>
        </a:graphic>
      </p:graphicFrame>
      <p:sp>
        <p:nvSpPr>
          <p:cNvPr id="5" name="text-2">
            <a:extLst xmlns:a="http://schemas.openxmlformats.org/drawingml/2006/main">
              <a:ext uri="{FF2B5EF4-FFF2-40B4-BE49-F238E27FC236}">
                <a16:creationId xmlns:a16="http://schemas.microsoft.com/office/drawing/2014/main" id="{4AE933CE-3F49-4E8D-AF2E-823826E053FE}"/>
              </a:ext>
            </a:extLst>
          </p:cNvPr>
          <p:cNvSpPr>
            <a:spLocks xmlns:a="http://schemas.openxmlformats.org/drawingml/2006/main" noGrp="1"/>
          </p:cNvSpPr>
          <p:nvPr/>
        </p:nvSpPr>
        <p:spPr>
          <a:xfrm xmlns:a="http://schemas.openxmlformats.org/drawingml/2006/main">
            <a:off x="609600" y="5381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72B4D"/>
                </a:solidFill>
                <a:latin typeface="DejaVu Sans"/>
                <a:ea typeface="DejaVu Sans"/>
                <a:cs typeface="DejaVu Sans"/>
              </a:defRPr>
            </a:defPPr>
            <a:lvl1pPr>
              <a:defRPr sz="1950" b="0">
                <a:solidFill>
                  <a:srgbClr val="172B4D"/>
                </a:solidFill>
                <a:latin typeface="DejaVu Sans"/>
                <a:ea typeface="DejaVu Sans"/>
                <a:cs typeface="DejaVu Sans"/>
              </a:defRPr>
            </a:lvl1pPr>
            <a:lvl2pPr>
              <a:defRPr sz="1950" b="0">
                <a:solidFill>
                  <a:srgbClr val="172B4D"/>
                </a:solidFill>
                <a:latin typeface="DejaVu Sans"/>
                <a:ea typeface="DejaVu Sans"/>
                <a:cs typeface="DejaVu Sans"/>
              </a:defRPr>
            </a:lvl2pPr>
            <a:lvl3pPr>
              <a:defRPr sz="1950" b="0">
                <a:solidFill>
                  <a:srgbClr val="172B4D"/>
                </a:solidFill>
                <a:latin typeface="DejaVu Sans"/>
                <a:ea typeface="DejaVu Sans"/>
                <a:cs typeface="DejaVu Sans"/>
              </a:defRPr>
            </a:lvl3pPr>
            <a:lvl4pPr>
              <a:defRPr sz="1950" b="0">
                <a:solidFill>
                  <a:srgbClr val="172B4D"/>
                </a:solidFill>
                <a:latin typeface="DejaVu Sans"/>
                <a:ea typeface="DejaVu Sans"/>
                <a:cs typeface="DejaVu Sans"/>
              </a:defRPr>
            </a:lvl4pPr>
            <a:lvl5pPr>
              <a:defRPr sz="1950" b="0">
                <a:solidFill>
                  <a:srgbClr val="172B4D"/>
                </a:solidFill>
                <a:latin typeface="DejaVu Sans"/>
                <a:ea typeface="DejaVu Sans"/>
                <a:cs typeface="DejaVu Sans"/>
              </a:defRPr>
            </a:lvl5pPr>
            <a:lvl6pPr>
              <a:defRPr sz="1950" b="0">
                <a:solidFill>
                  <a:srgbClr val="172B4D"/>
                </a:solidFill>
                <a:latin typeface="DejaVu Sans"/>
                <a:ea typeface="DejaVu Sans"/>
                <a:cs typeface="DejaVu Sans"/>
              </a:defRPr>
            </a:lvl6pPr>
            <a:lvl7pPr>
              <a:defRPr sz="1950" b="0">
                <a:solidFill>
                  <a:srgbClr val="172B4D"/>
                </a:solidFill>
                <a:latin typeface="DejaVu Sans"/>
                <a:ea typeface="DejaVu Sans"/>
                <a:cs typeface="DejaVu Sans"/>
              </a:defRPr>
            </a:lvl7pPr>
            <a:lvl8pPr>
              <a:defRPr sz="1950" b="0">
                <a:solidFill>
                  <a:srgbClr val="172B4D"/>
                </a:solidFill>
                <a:latin typeface="DejaVu Sans"/>
                <a:ea typeface="DejaVu Sans"/>
                <a:cs typeface="DejaVu Sans"/>
              </a:defRPr>
            </a:lvl8pPr>
            <a:lvl9pPr>
              <a:defRPr sz="1950" b="0">
                <a:solidFill>
                  <a:srgbClr val="172B4D"/>
                </a:solidFill>
                <a:latin typeface="DejaVu Sans"/>
                <a:ea typeface="DejaVu Sans"/>
                <a:cs typeface="DejaVu Sans"/>
              </a:defRPr>
            </a:lvl9pPr>
          </a:lstStyle>
          <a:p xmlns:a="http://schemas.openxmlformats.org/drawingml/2006/main">
            <a:pPr>
              <a:defRPr sz="1950" b="0">
                <a:solidFill>
                  <a:srgbClr val="172B4D"/>
                </a:solidFill>
                <a:latin typeface="DejaVu Sans"/>
                <a:ea typeface="DejaVu Sans"/>
                <a:cs typeface="DejaVu Sans"/>
              </a:defRPr>
            </a:pPr>
            <a:r>
              <a:rPr sz="1950" b="0">
                <a:solidFill>
                  <a:srgbClr val="172B4D"/>
                </a:solidFill>
                <a:latin typeface="DejaVu Sans"/>
                <a:ea typeface="DejaVu Sans"/>
                <a:cs typeface="DejaVu Sans"/>
              </a:rPr>
              <a:t>MobileNetV2: lowest validation loss at epoch 15</a:t>
            </a:r>
          </a:p>
          <a:p xmlns:a="http://schemas.openxmlformats.org/drawingml/2006/main">
            <a:pPr>
              <a:defRPr sz="1950" b="0">
                <a:solidFill>
                  <a:srgbClr val="172B4D"/>
                </a:solidFill>
                <a:latin typeface="DejaVu Sans"/>
                <a:ea typeface="DejaVu Sans"/>
                <a:cs typeface="DejaVu Sans"/>
              </a:defRPr>
            </a:pPr>
            <a:r>
              <a:rPr sz="1950" b="0">
                <a:solidFill>
                  <a:srgbClr val="172B4D"/>
                </a:solidFill>
                <a:latin typeface="DejaVu Sans"/>
                <a:ea typeface="DejaVu Sans"/>
                <a:cs typeface="DejaVu Sans"/>
              </a:rPr>
              <a:t>YOLOv8n: best validation fitness first at epoch 7</a:t>
            </a:r>
          </a:p>
        </p:txBody>
      </p:sp>
    </p:spTree>
    <p:extLst>
      <p:ext uri="{BB962C8B-B14F-4D97-AF65-F5344CB8AC3E}">
        <p14:creationId xmlns:p14="http://schemas.microsoft.com/office/powerpoint/2010/main" val="10318942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901AF34-3321-45FE-803A-CB649646BBB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Glare causes every observed test error</a:t>
            </a:r>
          </a:p>
        </p:txBody>
      </p:sp>
      <p:sp>
        <p:nvSpPr>
          <p:cNvPr id="2" name="text-1">
            <a:extLst xmlns:a="http://schemas.openxmlformats.org/drawingml/2006/main">
              <a:ext uri="{FF2B5EF4-FFF2-40B4-BE49-F238E27FC236}">
                <a16:creationId xmlns:a16="http://schemas.microsoft.com/office/drawing/2014/main" id="{F13C0619-9C22-4B0F-9FF6-7FFD21009EC6}"/>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260410B9-6C92-4F3C-9EBC-7CF15E82689F}"/>
              </a:ext>
            </a:extLst>
          </p:cNvPr>
          <p:cNvPicPr>
            <a:picLocks xmlns:a="http://schemas.openxmlformats.org/drawingml/2006/main" noChangeAspect="1"/>
          </p:cNvPicPr>
          <p:nvPr/>
        </p:nvPicPr>
        <p:blipFill>
          <a:blip xmlns:r="http://schemas.openxmlformats.org/officeDocument/2006/relationships" xmlns:a="http://schemas.openxmlformats.org/drawingml/2006/main" r:embed="Rb124321bc71d4756"/>
          <a:srcRect xmlns:a="http://schemas.openxmlformats.org/drawingml/2006/main" l="0" t="0" r="0" b="46000"/>
          <a:stretch xmlns:a="http://schemas.openxmlformats.org/drawingml/2006/main"/>
        </p:blipFill>
        <p:spPr>
          <a:xfrm xmlns:a="http://schemas.openxmlformats.org/drawingml/2006/main">
            <a:off x="609600" y="1352550"/>
            <a:ext cx="10972800" cy="388620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02359F0A-C623-4D4D-BF1F-67E296F240C5}"/>
              </a:ext>
            </a:extLst>
          </p:cNvPr>
          <p:cNvSpPr>
            <a:spLocks xmlns:a="http://schemas.openxmlformats.org/drawingml/2006/main" noGrp="1"/>
          </p:cNvSpPr>
          <p:nvPr/>
        </p:nvSpPr>
        <p:spPr>
          <a:xfrm xmlns:a="http://schemas.openxmlformats.org/drawingml/2006/main">
            <a:off x="609600" y="542925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72B4D"/>
                </a:solidFill>
                <a:latin typeface="DejaVu Sans"/>
                <a:ea typeface="DejaVu Sans"/>
                <a:cs typeface="DejaVu Sans"/>
              </a:defRPr>
            </a:defPPr>
            <a:lvl1pPr>
              <a:defRPr sz="2025" b="0">
                <a:solidFill>
                  <a:srgbClr val="172B4D"/>
                </a:solidFill>
                <a:latin typeface="DejaVu Sans"/>
                <a:ea typeface="DejaVu Sans"/>
                <a:cs typeface="DejaVu Sans"/>
              </a:defRPr>
            </a:lvl1pPr>
            <a:lvl2pPr>
              <a:defRPr sz="2025" b="0">
                <a:solidFill>
                  <a:srgbClr val="172B4D"/>
                </a:solidFill>
                <a:latin typeface="DejaVu Sans"/>
                <a:ea typeface="DejaVu Sans"/>
                <a:cs typeface="DejaVu Sans"/>
              </a:defRPr>
            </a:lvl2pPr>
            <a:lvl3pPr>
              <a:defRPr sz="2025" b="0">
                <a:solidFill>
                  <a:srgbClr val="172B4D"/>
                </a:solidFill>
                <a:latin typeface="DejaVu Sans"/>
                <a:ea typeface="DejaVu Sans"/>
                <a:cs typeface="DejaVu Sans"/>
              </a:defRPr>
            </a:lvl3pPr>
            <a:lvl4pPr>
              <a:defRPr sz="2025" b="0">
                <a:solidFill>
                  <a:srgbClr val="172B4D"/>
                </a:solidFill>
                <a:latin typeface="DejaVu Sans"/>
                <a:ea typeface="DejaVu Sans"/>
                <a:cs typeface="DejaVu Sans"/>
              </a:defRPr>
            </a:lvl4pPr>
            <a:lvl5pPr>
              <a:defRPr sz="2025" b="0">
                <a:solidFill>
                  <a:srgbClr val="172B4D"/>
                </a:solidFill>
                <a:latin typeface="DejaVu Sans"/>
                <a:ea typeface="DejaVu Sans"/>
                <a:cs typeface="DejaVu Sans"/>
              </a:defRPr>
            </a:lvl5pPr>
            <a:lvl6pPr>
              <a:defRPr sz="2025" b="0">
                <a:solidFill>
                  <a:srgbClr val="172B4D"/>
                </a:solidFill>
                <a:latin typeface="DejaVu Sans"/>
                <a:ea typeface="DejaVu Sans"/>
                <a:cs typeface="DejaVu Sans"/>
              </a:defRPr>
            </a:lvl6pPr>
            <a:lvl7pPr>
              <a:defRPr sz="2025" b="0">
                <a:solidFill>
                  <a:srgbClr val="172B4D"/>
                </a:solidFill>
                <a:latin typeface="DejaVu Sans"/>
                <a:ea typeface="DejaVu Sans"/>
                <a:cs typeface="DejaVu Sans"/>
              </a:defRPr>
            </a:lvl7pPr>
            <a:lvl8pPr>
              <a:defRPr sz="2025" b="0">
                <a:solidFill>
                  <a:srgbClr val="172B4D"/>
                </a:solidFill>
                <a:latin typeface="DejaVu Sans"/>
                <a:ea typeface="DejaVu Sans"/>
                <a:cs typeface="DejaVu Sans"/>
              </a:defRPr>
            </a:lvl8pPr>
            <a:lvl9pPr>
              <a:defRPr sz="2025" b="0">
                <a:solidFill>
                  <a:srgbClr val="172B4D"/>
                </a:solidFill>
                <a:latin typeface="DejaVu Sans"/>
                <a:ea typeface="DejaVu Sans"/>
                <a:cs typeface="DejaVu Sans"/>
              </a:defRPr>
            </a:lvl9pPr>
          </a:lstStyle>
          <a:p xmlns:a="http://schemas.openxmlformats.org/drawingml/2006/main">
            <a:pPr>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YOLOv8n glare recall: 25 / 28 = 89.29%</a:t>
            </a:r>
          </a:p>
          <a:p xmlns:a="http://schemas.openxmlformats.org/drawingml/2006/main">
            <a:pPr>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Other measured defects: no misses in this test set</a:t>
            </a:r>
          </a:p>
        </p:txBody>
      </p:sp>
    </p:spTree>
    <p:extLst>
      <p:ext uri="{BB962C8B-B14F-4D97-AF65-F5344CB8AC3E}">
        <p14:creationId xmlns:p14="http://schemas.microsoft.com/office/powerpoint/2010/main" val="12038870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F51754F-8DE6-45EA-8860-B8082A43FE4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Validation-based decision and limits</a:t>
            </a:r>
          </a:p>
        </p:txBody>
      </p:sp>
      <p:sp>
        <p:nvSpPr>
          <p:cNvPr id="2" name="text-1">
            <a:extLst xmlns:a="http://schemas.openxmlformats.org/drawingml/2006/main">
              <a:ext uri="{FF2B5EF4-FFF2-40B4-BE49-F238E27FC236}">
                <a16:creationId xmlns:a16="http://schemas.microsoft.com/office/drawing/2014/main" id="{9BB69A5F-1EE6-4869-8506-41A17F62C91B}"/>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08</a:t>
            </a:r>
          </a:p>
        </p:txBody>
      </p:sp>
      <p:sp>
        <p:nvSpPr>
          <p:cNvPr id="3" name="text-2">
            <a:extLst xmlns:a="http://schemas.openxmlformats.org/drawingml/2006/main">
              <a:ext uri="{FF2B5EF4-FFF2-40B4-BE49-F238E27FC236}">
                <a16:creationId xmlns:a16="http://schemas.microsoft.com/office/drawing/2014/main" id="{B31803EC-D212-4611-BF35-9AD6239437DE}"/>
              </a:ext>
            </a:extLst>
          </p:cNvPr>
          <p:cNvSpPr>
            <a:spLocks xmlns:a="http://schemas.openxmlformats.org/drawingml/2006/main" noGrp="1"/>
          </p:cNvSpPr>
          <p:nvPr/>
        </p:nvSpPr>
        <p:spPr>
          <a:xfrm xmlns:a="http://schemas.openxmlformats.org/drawingml/2006/main">
            <a:off x="609600" y="14763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850" b="1">
                <a:solidFill>
                  <a:srgbClr val="006D77"/>
                </a:solidFill>
                <a:latin typeface="DejaVu Sans"/>
                <a:ea typeface="DejaVu Sans"/>
                <a:cs typeface="DejaVu Sans"/>
              </a:defRPr>
            </a:defPPr>
            <a:lvl1pPr>
              <a:defRPr sz="2850" b="1">
                <a:solidFill>
                  <a:srgbClr val="006D77"/>
                </a:solidFill>
                <a:latin typeface="DejaVu Sans"/>
                <a:ea typeface="DejaVu Sans"/>
                <a:cs typeface="DejaVu Sans"/>
              </a:defRPr>
            </a:lvl1pPr>
            <a:lvl2pPr>
              <a:defRPr sz="2850" b="1">
                <a:solidFill>
                  <a:srgbClr val="006D77"/>
                </a:solidFill>
                <a:latin typeface="DejaVu Sans"/>
                <a:ea typeface="DejaVu Sans"/>
                <a:cs typeface="DejaVu Sans"/>
              </a:defRPr>
            </a:lvl2pPr>
            <a:lvl3pPr>
              <a:defRPr sz="2850" b="1">
                <a:solidFill>
                  <a:srgbClr val="006D77"/>
                </a:solidFill>
                <a:latin typeface="DejaVu Sans"/>
                <a:ea typeface="DejaVu Sans"/>
                <a:cs typeface="DejaVu Sans"/>
              </a:defRPr>
            </a:lvl3pPr>
            <a:lvl4pPr>
              <a:defRPr sz="2850" b="1">
                <a:solidFill>
                  <a:srgbClr val="006D77"/>
                </a:solidFill>
                <a:latin typeface="DejaVu Sans"/>
                <a:ea typeface="DejaVu Sans"/>
                <a:cs typeface="DejaVu Sans"/>
              </a:defRPr>
            </a:lvl4pPr>
            <a:lvl5pPr>
              <a:defRPr sz="2850" b="1">
                <a:solidFill>
                  <a:srgbClr val="006D77"/>
                </a:solidFill>
                <a:latin typeface="DejaVu Sans"/>
                <a:ea typeface="DejaVu Sans"/>
                <a:cs typeface="DejaVu Sans"/>
              </a:defRPr>
            </a:lvl5pPr>
            <a:lvl6pPr>
              <a:defRPr sz="2850" b="1">
                <a:solidFill>
                  <a:srgbClr val="006D77"/>
                </a:solidFill>
                <a:latin typeface="DejaVu Sans"/>
                <a:ea typeface="DejaVu Sans"/>
                <a:cs typeface="DejaVu Sans"/>
              </a:defRPr>
            </a:lvl6pPr>
            <a:lvl7pPr>
              <a:defRPr sz="2850" b="1">
                <a:solidFill>
                  <a:srgbClr val="006D77"/>
                </a:solidFill>
                <a:latin typeface="DejaVu Sans"/>
                <a:ea typeface="DejaVu Sans"/>
                <a:cs typeface="DejaVu Sans"/>
              </a:defRPr>
            </a:lvl7pPr>
            <a:lvl8pPr>
              <a:defRPr sz="2850" b="1">
                <a:solidFill>
                  <a:srgbClr val="006D77"/>
                </a:solidFill>
                <a:latin typeface="DejaVu Sans"/>
                <a:ea typeface="DejaVu Sans"/>
                <a:cs typeface="DejaVu Sans"/>
              </a:defRPr>
            </a:lvl8pPr>
            <a:lvl9pPr>
              <a:defRPr sz="2850" b="1">
                <a:solidFill>
                  <a:srgbClr val="006D77"/>
                </a:solidFill>
                <a:latin typeface="DejaVu Sans"/>
                <a:ea typeface="DejaVu Sans"/>
                <a:cs typeface="DejaVu Sans"/>
              </a:defRPr>
            </a:lvl9pPr>
          </a:lstStyle>
          <a:p xmlns:a="http://schemas.openxmlformats.org/drawingml/2006/main">
            <a:pPr>
              <a:defRPr sz="2850" b="1">
                <a:solidFill>
                  <a:srgbClr val="006D77"/>
                </a:solidFill>
                <a:latin typeface="DejaVu Sans"/>
                <a:ea typeface="DejaVu Sans"/>
                <a:cs typeface="DejaVu Sans"/>
              </a:defRPr>
            </a:pPr>
            <a:r>
              <a:rPr sz="2850" b="1">
                <a:solidFill>
                  <a:srgbClr val="006D77"/>
                </a:solidFill>
                <a:latin typeface="DejaVu Sans"/>
                <a:ea typeface="DejaVu Sans"/>
                <a:cs typeface="DejaVu Sans"/>
              </a:rPr>
              <a:t>Selected candidate: YOLOv8n-cls</a:t>
            </a:r>
          </a:p>
        </p:txBody>
      </p:sp>
      <p:sp>
        <p:nvSpPr>
          <p:cNvPr id="4" name="text-3">
            <a:extLst xmlns:a="http://schemas.openxmlformats.org/drawingml/2006/main">
              <a:ext uri="{FF2B5EF4-FFF2-40B4-BE49-F238E27FC236}">
                <a16:creationId xmlns:a16="http://schemas.microsoft.com/office/drawing/2014/main" id="{10DAB48F-3C4E-4C0F-8FAB-8A12021DFA0C}"/>
              </a:ext>
            </a:extLst>
          </p:cNvPr>
          <p:cNvSpPr>
            <a:spLocks xmlns:a="http://schemas.openxmlformats.org/drawingml/2006/main" noGrp="1"/>
          </p:cNvSpPr>
          <p:nvPr/>
        </p:nvSpPr>
        <p:spPr>
          <a:xfrm xmlns:a="http://schemas.openxmlformats.org/drawingml/2006/main">
            <a:off x="609600" y="2362200"/>
            <a:ext cx="5905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172B4D"/>
                </a:solidFill>
                <a:latin typeface="DejaVu Sans"/>
                <a:ea typeface="DejaVu Sans"/>
                <a:cs typeface="DejaVu Sans"/>
              </a:defRPr>
            </a:defPPr>
            <a:lvl1pPr>
              <a:defRPr sz="2250" b="0">
                <a:solidFill>
                  <a:srgbClr val="172B4D"/>
                </a:solidFill>
                <a:latin typeface="DejaVu Sans"/>
                <a:ea typeface="DejaVu Sans"/>
                <a:cs typeface="DejaVu Sans"/>
              </a:defRPr>
            </a:lvl1pPr>
            <a:lvl2pPr>
              <a:defRPr sz="2250" b="0">
                <a:solidFill>
                  <a:srgbClr val="172B4D"/>
                </a:solidFill>
                <a:latin typeface="DejaVu Sans"/>
                <a:ea typeface="DejaVu Sans"/>
                <a:cs typeface="DejaVu Sans"/>
              </a:defRPr>
            </a:lvl2pPr>
            <a:lvl3pPr>
              <a:defRPr sz="2250" b="0">
                <a:solidFill>
                  <a:srgbClr val="172B4D"/>
                </a:solidFill>
                <a:latin typeface="DejaVu Sans"/>
                <a:ea typeface="DejaVu Sans"/>
                <a:cs typeface="DejaVu Sans"/>
              </a:defRPr>
            </a:lvl3pPr>
            <a:lvl4pPr>
              <a:defRPr sz="2250" b="0">
                <a:solidFill>
                  <a:srgbClr val="172B4D"/>
                </a:solidFill>
                <a:latin typeface="DejaVu Sans"/>
                <a:ea typeface="DejaVu Sans"/>
                <a:cs typeface="DejaVu Sans"/>
              </a:defRPr>
            </a:lvl4pPr>
            <a:lvl5pPr>
              <a:defRPr sz="2250" b="0">
                <a:solidFill>
                  <a:srgbClr val="172B4D"/>
                </a:solidFill>
                <a:latin typeface="DejaVu Sans"/>
                <a:ea typeface="DejaVu Sans"/>
                <a:cs typeface="DejaVu Sans"/>
              </a:defRPr>
            </a:lvl5pPr>
            <a:lvl6pPr>
              <a:defRPr sz="2250" b="0">
                <a:solidFill>
                  <a:srgbClr val="172B4D"/>
                </a:solidFill>
                <a:latin typeface="DejaVu Sans"/>
                <a:ea typeface="DejaVu Sans"/>
                <a:cs typeface="DejaVu Sans"/>
              </a:defRPr>
            </a:lvl6pPr>
            <a:lvl7pPr>
              <a:defRPr sz="2250" b="0">
                <a:solidFill>
                  <a:srgbClr val="172B4D"/>
                </a:solidFill>
                <a:latin typeface="DejaVu Sans"/>
                <a:ea typeface="DejaVu Sans"/>
                <a:cs typeface="DejaVu Sans"/>
              </a:defRPr>
            </a:lvl7pPr>
            <a:lvl8pPr>
              <a:defRPr sz="2250" b="0">
                <a:solidFill>
                  <a:srgbClr val="172B4D"/>
                </a:solidFill>
                <a:latin typeface="DejaVu Sans"/>
                <a:ea typeface="DejaVu Sans"/>
                <a:cs typeface="DejaVu Sans"/>
              </a:defRPr>
            </a:lvl8pPr>
            <a:lvl9pPr>
              <a:defRPr sz="2250" b="0">
                <a:solidFill>
                  <a:srgbClr val="172B4D"/>
                </a:solidFill>
                <a:latin typeface="DejaVu Sans"/>
                <a:ea typeface="DejaVu Sans"/>
                <a:cs typeface="DejaVu Sans"/>
              </a:defRPr>
            </a:lvl9pPr>
          </a:lstStyle>
          <a:p xmlns:a="http://schemas.openxmlformats.org/drawingml/2006/main">
            <a:pPr>
              <a:defRPr sz="2250" b="0">
                <a:solidFill>
                  <a:srgbClr val="172B4D"/>
                </a:solidFill>
                <a:latin typeface="DejaVu Sans"/>
                <a:ea typeface="DejaVu Sans"/>
                <a:cs typeface="DejaVu Sans"/>
              </a:defRPr>
            </a:pPr>
            <a:r>
              <a:rPr sz="2250" b="0">
                <a:solidFill>
                  <a:srgbClr val="172B4D"/>
                </a:solidFill>
                <a:latin typeface="DejaVu Sans"/>
                <a:ea typeface="DejaVu Sans"/>
                <a:cs typeface="DejaVu Sans"/>
              </a:rPr>
              <a:t>Validation recall bad 98.52%</a:t>
            </a:r>
          </a:p>
          <a:p xmlns:a="http://schemas.openxmlformats.org/drawingml/2006/main">
            <a:pPr>
              <a:defRPr sz="2250" b="0">
                <a:solidFill>
                  <a:srgbClr val="172B4D"/>
                </a:solidFill>
                <a:latin typeface="DejaVu Sans"/>
                <a:ea typeface="DejaVu Sans"/>
                <a:cs typeface="DejaVu Sans"/>
              </a:defRPr>
            </a:pPr>
            <a:r>
              <a:rPr sz="2250" b="0">
                <a:solidFill>
                  <a:srgbClr val="172B4D"/>
                </a:solidFill>
                <a:latin typeface="DejaVu Sans"/>
                <a:ea typeface="DejaVu Sans"/>
                <a:cs typeface="DejaVu Sans"/>
              </a:rPr>
              <a:t>Mean CPU latency 26.97 ms</a:t>
            </a:r>
          </a:p>
          <a:p xmlns:a="http://schemas.openxmlformats.org/drawingml/2006/main">
            <a:pPr>
              <a:defRPr sz="2250" b="0">
                <a:solidFill>
                  <a:srgbClr val="172B4D"/>
                </a:solidFill>
                <a:latin typeface="DejaVu Sans"/>
                <a:ea typeface="DejaVu Sans"/>
                <a:cs typeface="DejaVu Sans"/>
              </a:defRPr>
            </a:pPr>
            <a:r>
              <a:rPr sz="2250" b="0">
                <a:solidFill>
                  <a:srgbClr val="172B4D"/>
                </a:solidFill>
                <a:latin typeface="DejaVu Sans"/>
                <a:ea typeface="DejaVu Sans"/>
                <a:cs typeface="DejaVu Sans"/>
              </a:rPr>
              <a:t>Saved checkpoint 2.83 MiB</a:t>
            </a:r>
          </a:p>
        </p:txBody>
      </p:sp>
      <p:sp>
        <p:nvSpPr>
          <p:cNvPr id="5" name="text-4">
            <a:extLst xmlns:a="http://schemas.openxmlformats.org/drawingml/2006/main">
              <a:ext uri="{FF2B5EF4-FFF2-40B4-BE49-F238E27FC236}">
                <a16:creationId xmlns:a16="http://schemas.microsoft.com/office/drawing/2014/main" id="{36D6E868-E70B-41E5-96DA-95E2129E7E2B}"/>
              </a:ext>
            </a:extLst>
          </p:cNvPr>
          <p:cNvSpPr>
            <a:spLocks xmlns:a="http://schemas.openxmlformats.org/drawingml/2006/main" noGrp="1"/>
          </p:cNvSpPr>
          <p:nvPr/>
        </p:nvSpPr>
        <p:spPr>
          <a:xfrm xmlns:a="http://schemas.openxmlformats.org/drawingml/2006/main">
            <a:off x="7239000" y="2266950"/>
            <a:ext cx="43434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72B4D"/>
                </a:solidFill>
                <a:latin typeface="DejaVu Sans"/>
                <a:ea typeface="DejaVu Sans"/>
                <a:cs typeface="DejaVu Sans"/>
              </a:defRPr>
            </a:defPPr>
            <a:lvl1pPr>
              <a:defRPr sz="1875" b="0">
                <a:solidFill>
                  <a:srgbClr val="172B4D"/>
                </a:solidFill>
                <a:latin typeface="DejaVu Sans"/>
                <a:ea typeface="DejaVu Sans"/>
                <a:cs typeface="DejaVu Sans"/>
              </a:defRPr>
            </a:lvl1pPr>
            <a:lvl2pPr>
              <a:defRPr sz="1875" b="0">
                <a:solidFill>
                  <a:srgbClr val="172B4D"/>
                </a:solidFill>
                <a:latin typeface="DejaVu Sans"/>
                <a:ea typeface="DejaVu Sans"/>
                <a:cs typeface="DejaVu Sans"/>
              </a:defRPr>
            </a:lvl2pPr>
            <a:lvl3pPr>
              <a:defRPr sz="1875" b="0">
                <a:solidFill>
                  <a:srgbClr val="172B4D"/>
                </a:solidFill>
                <a:latin typeface="DejaVu Sans"/>
                <a:ea typeface="DejaVu Sans"/>
                <a:cs typeface="DejaVu Sans"/>
              </a:defRPr>
            </a:lvl3pPr>
            <a:lvl4pPr>
              <a:defRPr sz="1875" b="0">
                <a:solidFill>
                  <a:srgbClr val="172B4D"/>
                </a:solidFill>
                <a:latin typeface="DejaVu Sans"/>
                <a:ea typeface="DejaVu Sans"/>
                <a:cs typeface="DejaVu Sans"/>
              </a:defRPr>
            </a:lvl4pPr>
            <a:lvl5pPr>
              <a:defRPr sz="1875" b="0">
                <a:solidFill>
                  <a:srgbClr val="172B4D"/>
                </a:solidFill>
                <a:latin typeface="DejaVu Sans"/>
                <a:ea typeface="DejaVu Sans"/>
                <a:cs typeface="DejaVu Sans"/>
              </a:defRPr>
            </a:lvl5pPr>
            <a:lvl6pPr>
              <a:defRPr sz="1875" b="0">
                <a:solidFill>
                  <a:srgbClr val="172B4D"/>
                </a:solidFill>
                <a:latin typeface="DejaVu Sans"/>
                <a:ea typeface="DejaVu Sans"/>
                <a:cs typeface="DejaVu Sans"/>
              </a:defRPr>
            </a:lvl6pPr>
            <a:lvl7pPr>
              <a:defRPr sz="1875" b="0">
                <a:solidFill>
                  <a:srgbClr val="172B4D"/>
                </a:solidFill>
                <a:latin typeface="DejaVu Sans"/>
                <a:ea typeface="DejaVu Sans"/>
                <a:cs typeface="DejaVu Sans"/>
              </a:defRPr>
            </a:lvl7pPr>
            <a:lvl8pPr>
              <a:defRPr sz="1875" b="0">
                <a:solidFill>
                  <a:srgbClr val="172B4D"/>
                </a:solidFill>
                <a:latin typeface="DejaVu Sans"/>
                <a:ea typeface="DejaVu Sans"/>
                <a:cs typeface="DejaVu Sans"/>
              </a:defRPr>
            </a:lvl8pPr>
            <a:lvl9pPr>
              <a:defRPr sz="1875" b="0">
                <a:solidFill>
                  <a:srgbClr val="172B4D"/>
                </a:solidFill>
                <a:latin typeface="DejaVu Sans"/>
                <a:ea typeface="DejaVu Sans"/>
                <a:cs typeface="DejaVu Sans"/>
              </a:defRPr>
            </a:lvl9pPr>
          </a:lstStyle>
          <a:p xmlns:a="http://schemas.openxmlformats.org/drawingml/2006/main">
            <a:pPr>
              <a:defRPr sz="1875" b="0">
                <a:solidFill>
                  <a:srgbClr val="172B4D"/>
                </a:solidFill>
                <a:latin typeface="DejaVu Sans"/>
                <a:ea typeface="DejaVu Sans"/>
                <a:cs typeface="DejaVu Sans"/>
              </a:defRPr>
            </a:pPr>
            <a:r>
              <a:rPr sz="1875" b="0">
                <a:solidFill>
                  <a:srgbClr val="172B4D"/>
                </a:solidFill>
                <a:latin typeface="DejaVu Sans"/>
                <a:ea typeface="DejaVu Sans"/>
                <a:cs typeface="DejaVu Sans"/>
              </a:rPr>
              <a:t>Predeclared gates</a:t>
            </a:r>
          </a:p>
          <a:p xmlns:a="http://schemas.openxmlformats.org/drawingml/2006/main">
            <a:pPr>
              <a:defRPr sz="1875" b="0">
                <a:solidFill>
                  <a:srgbClr val="172B4D"/>
                </a:solidFill>
                <a:latin typeface="DejaVu Sans"/>
                <a:ea typeface="DejaVu Sans"/>
                <a:cs typeface="DejaVu Sans"/>
              </a:defRPr>
            </a:pPr>
            <a:r>
              <a:rPr sz="1875" b="0">
                <a:solidFill>
                  <a:srgbClr val="172B4D"/>
                </a:solidFill>
                <a:latin typeface="DejaVu Sans"/>
                <a:ea typeface="DejaVu Sans"/>
                <a:cs typeface="DejaVu Sans"/>
              </a:rPr>
              <a:t>Accuracy ≥ 0.90</a:t>
            </a:r>
          </a:p>
          <a:p xmlns:a="http://schemas.openxmlformats.org/drawingml/2006/main">
            <a:pPr>
              <a:defRPr sz="1875" b="0">
                <a:solidFill>
                  <a:srgbClr val="172B4D"/>
                </a:solidFill>
                <a:latin typeface="DejaVu Sans"/>
                <a:ea typeface="DejaVu Sans"/>
                <a:cs typeface="DejaVu Sans"/>
              </a:defRPr>
            </a:pPr>
            <a:r>
              <a:rPr sz="1875" b="0">
                <a:solidFill>
                  <a:srgbClr val="172B4D"/>
                </a:solidFill>
                <a:latin typeface="DejaVu Sans"/>
                <a:ea typeface="DejaVu Sans"/>
                <a:cs typeface="DejaVu Sans"/>
              </a:rPr>
              <a:t>F1 bad ≥ 0.90</a:t>
            </a:r>
          </a:p>
          <a:p xmlns:a="http://schemas.openxmlformats.org/drawingml/2006/main">
            <a:pPr>
              <a:defRPr sz="1875" b="0">
                <a:solidFill>
                  <a:srgbClr val="172B4D"/>
                </a:solidFill>
                <a:latin typeface="DejaVu Sans"/>
                <a:ea typeface="DejaVu Sans"/>
                <a:cs typeface="DejaVu Sans"/>
              </a:defRPr>
            </a:pPr>
            <a:r>
              <a:rPr sz="1875" b="0">
                <a:solidFill>
                  <a:srgbClr val="172B4D"/>
                </a:solidFill>
                <a:latin typeface="DejaVu Sans"/>
                <a:ea typeface="DejaVu Sans"/>
                <a:cs typeface="DejaVu Sans"/>
              </a:rPr>
              <a:t>Recall bad ≥ 0.95</a:t>
            </a:r>
          </a:p>
          <a:p xmlns:a="http://schemas.openxmlformats.org/drawingml/2006/main">
            <a:pPr>
              <a:defRPr sz="1875" b="0">
                <a:solidFill>
                  <a:srgbClr val="172B4D"/>
                </a:solidFill>
                <a:latin typeface="DejaVu Sans"/>
                <a:ea typeface="DejaVu Sans"/>
                <a:cs typeface="DejaVu Sans"/>
              </a:defRPr>
            </a:pPr>
            <a:r>
              <a:rPr sz="1875" b="0">
                <a:solidFill>
                  <a:srgbClr val="172B4D"/>
                </a:solidFill>
                <a:latin typeface="DejaVu Sans"/>
                <a:ea typeface="DejaVu Sans"/>
                <a:cs typeface="DejaVu Sans"/>
              </a:rPr>
              <a:t>Mean CPU ≤ 50 ms</a:t>
            </a:r>
          </a:p>
          <a:p xmlns:a="http://schemas.openxmlformats.org/drawingml/2006/main">
            <a:pPr>
              <a:defRPr sz="1875" b="0">
                <a:solidFill>
                  <a:srgbClr val="172B4D"/>
                </a:solidFill>
                <a:latin typeface="DejaVu Sans"/>
                <a:ea typeface="DejaVu Sans"/>
                <a:cs typeface="DejaVu Sans"/>
              </a:defRPr>
            </a:pPr>
            <a:r>
              <a:rPr sz="1875" b="0">
                <a:solidFill>
                  <a:srgbClr val="172B4D"/>
                </a:solidFill>
                <a:latin typeface="DejaVu Sans"/>
                <a:ea typeface="DejaVu Sans"/>
                <a:cs typeface="DejaVu Sans"/>
              </a:rPr>
              <a:t>Checkpoint ≤ 100 MiB</a:t>
            </a:r>
          </a:p>
        </p:txBody>
      </p:sp>
      <p:sp>
        <p:nvSpPr>
          <p:cNvPr id="6" name="text-5">
            <a:extLst xmlns:a="http://schemas.openxmlformats.org/drawingml/2006/main">
              <a:ext uri="{FF2B5EF4-FFF2-40B4-BE49-F238E27FC236}">
                <a16:creationId xmlns:a16="http://schemas.microsoft.com/office/drawing/2014/main" id="{F1E738E6-0159-4E72-92DF-C92688DF5E81}"/>
              </a:ext>
            </a:extLst>
          </p:cNvPr>
          <p:cNvSpPr>
            <a:spLocks xmlns:a="http://schemas.openxmlformats.org/drawingml/2006/main" noGrp="1"/>
          </p:cNvSpPr>
          <p:nvPr/>
        </p:nvSpPr>
        <p:spPr>
          <a:xfrm xmlns:a="http://schemas.openxmlformats.org/drawingml/2006/main">
            <a:off x="609600" y="52578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506075"/>
                </a:solidFill>
                <a:latin typeface="DejaVu Sans"/>
                <a:ea typeface="DejaVu Sans"/>
                <a:cs typeface="DejaVu Sans"/>
              </a:defRPr>
            </a:defPPr>
            <a:lvl1pPr>
              <a:defRPr sz="2100" b="0">
                <a:solidFill>
                  <a:srgbClr val="506075"/>
                </a:solidFill>
                <a:latin typeface="DejaVu Sans"/>
                <a:ea typeface="DejaVu Sans"/>
                <a:cs typeface="DejaVu Sans"/>
              </a:defRPr>
            </a:lvl1pPr>
            <a:lvl2pPr>
              <a:defRPr sz="2100" b="0">
                <a:solidFill>
                  <a:srgbClr val="506075"/>
                </a:solidFill>
                <a:latin typeface="DejaVu Sans"/>
                <a:ea typeface="DejaVu Sans"/>
                <a:cs typeface="DejaVu Sans"/>
              </a:defRPr>
            </a:lvl2pPr>
            <a:lvl3pPr>
              <a:defRPr sz="2100" b="0">
                <a:solidFill>
                  <a:srgbClr val="506075"/>
                </a:solidFill>
                <a:latin typeface="DejaVu Sans"/>
                <a:ea typeface="DejaVu Sans"/>
                <a:cs typeface="DejaVu Sans"/>
              </a:defRPr>
            </a:lvl3pPr>
            <a:lvl4pPr>
              <a:defRPr sz="2100" b="0">
                <a:solidFill>
                  <a:srgbClr val="506075"/>
                </a:solidFill>
                <a:latin typeface="DejaVu Sans"/>
                <a:ea typeface="DejaVu Sans"/>
                <a:cs typeface="DejaVu Sans"/>
              </a:defRPr>
            </a:lvl4pPr>
            <a:lvl5pPr>
              <a:defRPr sz="2100" b="0">
                <a:solidFill>
                  <a:srgbClr val="506075"/>
                </a:solidFill>
                <a:latin typeface="DejaVu Sans"/>
                <a:ea typeface="DejaVu Sans"/>
                <a:cs typeface="DejaVu Sans"/>
              </a:defRPr>
            </a:lvl5pPr>
            <a:lvl6pPr>
              <a:defRPr sz="2100" b="0">
                <a:solidFill>
                  <a:srgbClr val="506075"/>
                </a:solidFill>
                <a:latin typeface="DejaVu Sans"/>
                <a:ea typeface="DejaVu Sans"/>
                <a:cs typeface="DejaVu Sans"/>
              </a:defRPr>
            </a:lvl6pPr>
            <a:lvl7pPr>
              <a:defRPr sz="2100" b="0">
                <a:solidFill>
                  <a:srgbClr val="506075"/>
                </a:solidFill>
                <a:latin typeface="DejaVu Sans"/>
                <a:ea typeface="DejaVu Sans"/>
                <a:cs typeface="DejaVu Sans"/>
              </a:defRPr>
            </a:lvl7pPr>
            <a:lvl8pPr>
              <a:defRPr sz="2100" b="0">
                <a:solidFill>
                  <a:srgbClr val="506075"/>
                </a:solidFill>
                <a:latin typeface="DejaVu Sans"/>
                <a:ea typeface="DejaVu Sans"/>
                <a:cs typeface="DejaVu Sans"/>
              </a:defRPr>
            </a:lvl8pPr>
            <a:lvl9pPr>
              <a:defRPr sz="2100" b="0">
                <a:solidFill>
                  <a:srgbClr val="506075"/>
                </a:solidFill>
                <a:latin typeface="DejaVu Sans"/>
                <a:ea typeface="DejaVu Sans"/>
                <a:cs typeface="DejaVu Sans"/>
              </a:defRPr>
            </a:lvl9pPr>
          </a:lstStyle>
          <a:p xmlns:a="http://schemas.openxmlformats.org/drawingml/2006/main">
            <a:pPr>
              <a:defRPr sz="2100" b="0">
                <a:solidFill>
                  <a:srgbClr val="506075"/>
                </a:solidFill>
                <a:latin typeface="DejaVu Sans"/>
                <a:ea typeface="DejaVu Sans"/>
                <a:cs typeface="DejaVu Sans"/>
              </a:defRPr>
            </a:pPr>
            <a:r>
              <a:rPr sz="2100" b="0">
                <a:solidFill>
                  <a:srgbClr val="506075"/>
                </a:solidFill>
                <a:latin typeface="DejaVu Sans"/>
                <a:ea typeface="DejaVu Sans"/>
                <a:cs typeface="DejaVu Sans"/>
              </a:rPr>
              <a:t>300 synthetic source documents limit the conclusion.</a:t>
            </a:r>
          </a:p>
          <a:p xmlns:a="http://schemas.openxmlformats.org/drawingml/2006/main">
            <a:pPr>
              <a:defRPr sz="2100" b="0">
                <a:solidFill>
                  <a:srgbClr val="506075"/>
                </a:solidFill>
                <a:latin typeface="DejaVu Sans"/>
                <a:ea typeface="DejaVu Sans"/>
                <a:cs typeface="DejaVu Sans"/>
              </a:defRPr>
            </a:pPr>
            <a:r>
              <a:rPr sz="2100" b="0">
                <a:solidFill>
                  <a:srgbClr val="506075"/>
                </a:solidFill>
                <a:latin typeface="DejaVu Sans"/>
                <a:ea typeface="DejaVu Sans"/>
                <a:cs typeface="DejaVu Sans"/>
              </a:rPr>
              <a:t>Real-camera validation remains necessary.</a:t>
            </a:r>
          </a:p>
        </p:txBody>
      </p:sp>
    </p:spTree>
    <p:extLst>
      <p:ext uri="{BB962C8B-B14F-4D97-AF65-F5344CB8AC3E}">
        <p14:creationId xmlns:p14="http://schemas.microsoft.com/office/powerpoint/2010/main" val="18330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8C05339-E041-4FC2-BC59-D305DF4000B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Appendix: size and training cost</a:t>
            </a:r>
          </a:p>
        </p:txBody>
      </p:sp>
      <p:sp>
        <p:nvSpPr>
          <p:cNvPr id="2" name="text-1">
            <a:extLst xmlns:a="http://schemas.openxmlformats.org/drawingml/2006/main">
              <a:ext uri="{FF2B5EF4-FFF2-40B4-BE49-F238E27FC236}">
                <a16:creationId xmlns:a16="http://schemas.microsoft.com/office/drawing/2014/main" id="{9F3A23F8-E1B1-4DA2-9918-139BAC088583}"/>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09</a:t>
            </a:r>
          </a:p>
        </p:txBody>
      </p:sp>
      <p:graphicFrame>
        <p:nvGraphicFramePr>
          <p:cNvPr id="3" name="">
            <a:extLst xmlns:a="http://schemas.openxmlformats.org/drawingml/2006/main">
              <a:ext uri="{FF2B5EF4-FFF2-40B4-BE49-F238E27FC236}">
                <a16:creationId xmlns:a16="http://schemas.microsoft.com/office/drawing/2014/main" id="{489BF1FF-FF70-4F33-A4CA-07FABA055E2D}"/>
              </a:ext>
            </a:extLst>
          </p:cNvPr>
          <p:cNvGraphicFramePr/>
          <p:nvPr/>
        </p:nvGraphicFramePr>
        <p:xfrm>
          <a:off xmlns:a="http://schemas.openxmlformats.org/drawingml/2006/main" x="609600" y="1600200"/>
          <a:ext xmlns:a="http://schemas.openxmlformats.org/drawingml/2006/main" cx="10972800" cy="3028950"/>
        </p:xfrm>
        <a:graphic xmlns:a="http://schemas.openxmlformats.org/drawingml/2006/main">
          <a:graphicData uri="http://schemas.openxmlformats.org/drawingml/2006/table">
            <a:tbl>
              <a:tblPr firstRow="0" bandRow="0"/>
              <a:tblGrid>
                <a:gridCol w="3067050"/>
                <a:gridCol w="2095500"/>
                <a:gridCol w="1428750"/>
                <a:gridCol w="2571750"/>
                <a:gridCol w="1809750"/>
              </a:tblGrid>
              <a:tr h="605790">
                <a:tc>
                  <a:txBody>
                    <a:bodyPr lIns="95250" tIns="95250" rIns="95250" bIns="95250"/>
                    <a:lstStyle/>
                    <a:p>
                      <a:r>
                        <a:rPr sz="1875" b="1">
                          <a:solidFill>
                            <a:srgbClr val="FFFFFF"/>
                          </a:solidFill>
                          <a:latin typeface="DejaVu Sans"/>
                          <a:ea typeface="DejaVu Sans"/>
                          <a:cs typeface="DejaVu Sans"/>
                        </a:rPr>
                        <a:t>Model</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75" b="1">
                          <a:solidFill>
                            <a:srgbClr val="FFFFFF"/>
                          </a:solidFill>
                          <a:latin typeface="DejaVu Sans"/>
                          <a:ea typeface="DejaVu Sans"/>
                          <a:cs typeface="DejaVu Sans"/>
                        </a:rPr>
                        <a:t>Mean CPU ms</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75" b="1">
                          <a:solidFill>
                            <a:srgbClr val="FFFFFF"/>
                          </a:solidFill>
                          <a:latin typeface="DejaVu Sans"/>
                          <a:ea typeface="DejaVu Sans"/>
                          <a:cs typeface="DejaVu Sans"/>
                        </a:rPr>
                        <a:t>MiB</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75" b="1">
                          <a:solidFill>
                            <a:srgbClr val="FFFFFF"/>
                          </a:solidFill>
                          <a:latin typeface="DejaVu Sans"/>
                          <a:ea typeface="DejaVu Sans"/>
                          <a:cs typeface="DejaVu Sans"/>
                        </a:rPr>
                        <a:t>Parameters</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75" b="1">
                          <a:solidFill>
                            <a:srgbClr val="FFFFFF"/>
                          </a:solidFill>
                          <a:latin typeface="DejaVu Sans"/>
                          <a:ea typeface="DejaVu Sans"/>
                          <a:cs typeface="DejaVu Sans"/>
                        </a:rPr>
                        <a:t>Train s</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605790">
                <a:tc>
                  <a:txBody>
                    <a:bodyPr lIns="95250" tIns="95250" rIns="95250" bIns="95250"/>
                    <a:lstStyle/>
                    <a:p>
                      <a:r>
                        <a:rPr sz="1875" b="0">
                          <a:solidFill>
                            <a:srgbClr val="172B4D"/>
                          </a:solidFill>
                          <a:latin typeface="DejaVu Sans"/>
                          <a:ea typeface="DejaVu Sans"/>
                          <a:cs typeface="DejaVu Sans"/>
                        </a:rPr>
                        <a:t>MobileNetV2</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37.69</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11.06</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2,422,081</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247.9</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5790">
                <a:tc>
                  <a:txBody>
                    <a:bodyPr lIns="95250" tIns="95250" rIns="95250" bIns="95250"/>
                    <a:lstStyle/>
                    <a:p>
                      <a:r>
                        <a:rPr sz="1875" b="0">
                          <a:solidFill>
                            <a:srgbClr val="172B4D"/>
                          </a:solidFill>
                          <a:latin typeface="DejaVu Sans"/>
                          <a:ea typeface="DejaVu Sans"/>
                          <a:cs typeface="DejaVu Sans"/>
                        </a:rPr>
                        <a:t>EfficientNetB0</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56.69</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18.14</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4,213,668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272.4</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5790">
                <a:tc>
                  <a:txBody>
                    <a:bodyPr lIns="95250" tIns="95250" rIns="95250" bIns="95250"/>
                    <a:lstStyle/>
                    <a:p>
                      <a:r>
                        <a:rPr sz="1875" b="0">
                          <a:solidFill>
                            <a:srgbClr val="172B4D"/>
                          </a:solidFill>
                          <a:latin typeface="DejaVu Sans"/>
                          <a:ea typeface="DejaVu Sans"/>
                          <a:cs typeface="DejaVu Sans"/>
                        </a:rPr>
                        <a:t>YOLOv8n-cls</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26.97</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2.83</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1,440,850</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232.3</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605790">
                <a:tc>
                  <a:txBody>
                    <a:bodyPr lIns="95250" tIns="95250" rIns="95250" bIns="95250"/>
                    <a:lstStyle/>
                    <a:p>
                      <a:r>
                        <a:rPr sz="1875" b="0">
                          <a:solidFill>
                            <a:srgbClr val="172B4D"/>
                          </a:solidFill>
                          <a:latin typeface="DejaVu Sans"/>
                          <a:ea typeface="DejaVu Sans"/>
                          <a:cs typeface="DejaVu Sans"/>
                        </a:rPr>
                        <a:t>YOLOv8s-cls</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51.07</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9.78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5,083,298</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75" b="0">
                          <a:solidFill>
                            <a:srgbClr val="172B4D"/>
                          </a:solidFill>
                          <a:latin typeface="DejaVu Sans"/>
                          <a:ea typeface="DejaVu Sans"/>
                          <a:cs typeface="DejaVu Sans"/>
                        </a:rPr>
                        <a:t>176.0</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A456FD3-30D5-44B8-A06F-BDE23A61C2BA}"/>
              </a:ext>
            </a:extLst>
          </p:cNvPr>
          <p:cNvSpPr>
            <a:spLocks xmlns:a="http://schemas.openxmlformats.org/drawingml/2006/main" noGrp="1"/>
          </p:cNvSpPr>
          <p:nvPr/>
        </p:nvSpPr>
        <p:spPr>
          <a:xfrm xmlns:a="http://schemas.openxmlformats.org/drawingml/2006/main">
            <a:off x="609600" y="51911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72B4D"/>
                </a:solidFill>
                <a:latin typeface="DejaVu Sans"/>
                <a:ea typeface="DejaVu Sans"/>
                <a:cs typeface="DejaVu Sans"/>
              </a:defRPr>
            </a:defPPr>
            <a:lvl1pPr>
              <a:defRPr sz="2025" b="0">
                <a:solidFill>
                  <a:srgbClr val="172B4D"/>
                </a:solidFill>
                <a:latin typeface="DejaVu Sans"/>
                <a:ea typeface="DejaVu Sans"/>
                <a:cs typeface="DejaVu Sans"/>
              </a:defRPr>
            </a:lvl1pPr>
            <a:lvl2pPr>
              <a:defRPr sz="2025" b="0">
                <a:solidFill>
                  <a:srgbClr val="172B4D"/>
                </a:solidFill>
                <a:latin typeface="DejaVu Sans"/>
                <a:ea typeface="DejaVu Sans"/>
                <a:cs typeface="DejaVu Sans"/>
              </a:defRPr>
            </a:lvl2pPr>
            <a:lvl3pPr>
              <a:defRPr sz="2025" b="0">
                <a:solidFill>
                  <a:srgbClr val="172B4D"/>
                </a:solidFill>
                <a:latin typeface="DejaVu Sans"/>
                <a:ea typeface="DejaVu Sans"/>
                <a:cs typeface="DejaVu Sans"/>
              </a:defRPr>
            </a:lvl3pPr>
            <a:lvl4pPr>
              <a:defRPr sz="2025" b="0">
                <a:solidFill>
                  <a:srgbClr val="172B4D"/>
                </a:solidFill>
                <a:latin typeface="DejaVu Sans"/>
                <a:ea typeface="DejaVu Sans"/>
                <a:cs typeface="DejaVu Sans"/>
              </a:defRPr>
            </a:lvl4pPr>
            <a:lvl5pPr>
              <a:defRPr sz="2025" b="0">
                <a:solidFill>
                  <a:srgbClr val="172B4D"/>
                </a:solidFill>
                <a:latin typeface="DejaVu Sans"/>
                <a:ea typeface="DejaVu Sans"/>
                <a:cs typeface="DejaVu Sans"/>
              </a:defRPr>
            </a:lvl5pPr>
            <a:lvl6pPr>
              <a:defRPr sz="2025" b="0">
                <a:solidFill>
                  <a:srgbClr val="172B4D"/>
                </a:solidFill>
                <a:latin typeface="DejaVu Sans"/>
                <a:ea typeface="DejaVu Sans"/>
                <a:cs typeface="DejaVu Sans"/>
              </a:defRPr>
            </a:lvl6pPr>
            <a:lvl7pPr>
              <a:defRPr sz="2025" b="0">
                <a:solidFill>
                  <a:srgbClr val="172B4D"/>
                </a:solidFill>
                <a:latin typeface="DejaVu Sans"/>
                <a:ea typeface="DejaVu Sans"/>
                <a:cs typeface="DejaVu Sans"/>
              </a:defRPr>
            </a:lvl7pPr>
            <a:lvl8pPr>
              <a:defRPr sz="2025" b="0">
                <a:solidFill>
                  <a:srgbClr val="172B4D"/>
                </a:solidFill>
                <a:latin typeface="DejaVu Sans"/>
                <a:ea typeface="DejaVu Sans"/>
                <a:cs typeface="DejaVu Sans"/>
              </a:defRPr>
            </a:lvl8pPr>
            <a:lvl9pPr>
              <a:defRPr sz="2025" b="0">
                <a:solidFill>
                  <a:srgbClr val="172B4D"/>
                </a:solidFill>
                <a:latin typeface="DejaVu Sans"/>
                <a:ea typeface="DejaVu Sans"/>
                <a:cs typeface="DejaVu Sans"/>
              </a:defRPr>
            </a:lvl9pPr>
          </a:lstStyle>
          <a:p xmlns:a="http://schemas.openxmlformats.org/drawingml/2006/main">
            <a:pPr>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Training: Tesla T4. Inference benchmark: CPU.</a:t>
            </a:r>
          </a:p>
          <a:p xmlns:a="http://schemas.openxmlformats.org/drawingml/2006/main">
            <a:pPr>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YOLOv8n runs 11 epochs, YOLOv8s runs 7.</a:t>
            </a:r>
          </a:p>
        </p:txBody>
      </p:sp>
    </p:spTree>
    <p:extLst>
      <p:ext uri="{BB962C8B-B14F-4D97-AF65-F5344CB8AC3E}">
        <p14:creationId xmlns:p14="http://schemas.microsoft.com/office/powerpoint/2010/main" val="5993602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F97C008-C344-4583-993B-2F95DF9B5B0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Appendix: test confusion matrices</a:t>
            </a:r>
          </a:p>
        </p:txBody>
      </p:sp>
      <p:sp>
        <p:nvSpPr>
          <p:cNvPr id="2" name="text-1">
            <a:extLst xmlns:a="http://schemas.openxmlformats.org/drawingml/2006/main">
              <a:ext uri="{FF2B5EF4-FFF2-40B4-BE49-F238E27FC236}">
                <a16:creationId xmlns:a16="http://schemas.microsoft.com/office/drawing/2014/main" id="{BF226D20-896C-4254-8116-999B1CBA6D04}"/>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10</a:t>
            </a:r>
          </a:p>
        </p:txBody>
      </p:sp>
      <p:sp>
        <p:nvSpPr>
          <p:cNvPr id="3" name="text-2">
            <a:extLst xmlns:a="http://schemas.openxmlformats.org/drawingml/2006/main">
              <a:ext uri="{FF2B5EF4-FFF2-40B4-BE49-F238E27FC236}">
                <a16:creationId xmlns:a16="http://schemas.microsoft.com/office/drawing/2014/main" id="{6EBF3DB5-7756-45BA-A89C-27FA3DBF873B}"/>
              </a:ext>
            </a:extLst>
          </p:cNvPr>
          <p:cNvSpPr>
            <a:spLocks xmlns:a="http://schemas.openxmlformats.org/drawingml/2006/main" noGrp="1"/>
          </p:cNvSpPr>
          <p:nvPr/>
        </p:nvSpPr>
        <p:spPr>
          <a:xfrm xmlns:a="http://schemas.openxmlformats.org/drawingml/2006/main">
            <a:off x="609600" y="15240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006D77"/>
                </a:solidFill>
                <a:latin typeface="DejaVu Sans"/>
                <a:ea typeface="DejaVu Sans"/>
                <a:cs typeface="DejaVu Sans"/>
              </a:defRPr>
            </a:defPPr>
            <a:lvl1pPr>
              <a:defRPr sz="1950" b="1">
                <a:solidFill>
                  <a:srgbClr val="006D77"/>
                </a:solidFill>
                <a:latin typeface="DejaVu Sans"/>
                <a:ea typeface="DejaVu Sans"/>
                <a:cs typeface="DejaVu Sans"/>
              </a:defRPr>
            </a:lvl1pPr>
            <a:lvl2pPr>
              <a:defRPr sz="1950" b="1">
                <a:solidFill>
                  <a:srgbClr val="006D77"/>
                </a:solidFill>
                <a:latin typeface="DejaVu Sans"/>
                <a:ea typeface="DejaVu Sans"/>
                <a:cs typeface="DejaVu Sans"/>
              </a:defRPr>
            </a:lvl2pPr>
            <a:lvl3pPr>
              <a:defRPr sz="1950" b="1">
                <a:solidFill>
                  <a:srgbClr val="006D77"/>
                </a:solidFill>
                <a:latin typeface="DejaVu Sans"/>
                <a:ea typeface="DejaVu Sans"/>
                <a:cs typeface="DejaVu Sans"/>
              </a:defRPr>
            </a:lvl3pPr>
            <a:lvl4pPr>
              <a:defRPr sz="1950" b="1">
                <a:solidFill>
                  <a:srgbClr val="006D77"/>
                </a:solidFill>
                <a:latin typeface="DejaVu Sans"/>
                <a:ea typeface="DejaVu Sans"/>
                <a:cs typeface="DejaVu Sans"/>
              </a:defRPr>
            </a:lvl4pPr>
            <a:lvl5pPr>
              <a:defRPr sz="1950" b="1">
                <a:solidFill>
                  <a:srgbClr val="006D77"/>
                </a:solidFill>
                <a:latin typeface="DejaVu Sans"/>
                <a:ea typeface="DejaVu Sans"/>
                <a:cs typeface="DejaVu Sans"/>
              </a:defRPr>
            </a:lvl5pPr>
            <a:lvl6pPr>
              <a:defRPr sz="1950" b="1">
                <a:solidFill>
                  <a:srgbClr val="006D77"/>
                </a:solidFill>
                <a:latin typeface="DejaVu Sans"/>
                <a:ea typeface="DejaVu Sans"/>
                <a:cs typeface="DejaVu Sans"/>
              </a:defRPr>
            </a:lvl6pPr>
            <a:lvl7pPr>
              <a:defRPr sz="1950" b="1">
                <a:solidFill>
                  <a:srgbClr val="006D77"/>
                </a:solidFill>
                <a:latin typeface="DejaVu Sans"/>
                <a:ea typeface="DejaVu Sans"/>
                <a:cs typeface="DejaVu Sans"/>
              </a:defRPr>
            </a:lvl7pPr>
            <a:lvl8pPr>
              <a:defRPr sz="1950" b="1">
                <a:solidFill>
                  <a:srgbClr val="006D77"/>
                </a:solidFill>
                <a:latin typeface="DejaVu Sans"/>
                <a:ea typeface="DejaVu Sans"/>
                <a:cs typeface="DejaVu Sans"/>
              </a:defRPr>
            </a:lvl8pPr>
            <a:lvl9pPr>
              <a:defRPr sz="1950" b="1">
                <a:solidFill>
                  <a:srgbClr val="006D77"/>
                </a:solidFill>
                <a:latin typeface="DejaVu Sans"/>
                <a:ea typeface="DejaVu Sans"/>
                <a:cs typeface="DejaVu Sans"/>
              </a:defRPr>
            </a:lvl9pPr>
          </a:lstStyle>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MobileNetV2</a:t>
            </a:r>
          </a:p>
        </p:txBody>
      </p:sp>
      <p:graphicFrame>
        <p:nvGraphicFramePr>
          <p:cNvPr id="4" name="">
            <a:extLst xmlns:a="http://schemas.openxmlformats.org/drawingml/2006/main">
              <a:ext uri="{FF2B5EF4-FFF2-40B4-BE49-F238E27FC236}">
                <a16:creationId xmlns:a16="http://schemas.microsoft.com/office/drawing/2014/main" id="{B6C1AEE3-2786-41A0-80A6-B7FF26D49497}"/>
              </a:ext>
            </a:extLst>
          </p:cNvPr>
          <p:cNvGraphicFramePr/>
          <p:nvPr/>
        </p:nvGraphicFramePr>
        <p:xfrm>
          <a:off xmlns:a="http://schemas.openxmlformats.org/drawingml/2006/main" x="609600" y="1981200"/>
          <a:ext xmlns:a="http://schemas.openxmlformats.org/drawingml/2006/main" cx="5219700" cy="1514475"/>
        </p:xfrm>
        <a:graphic xmlns:a="http://schemas.openxmlformats.org/drawingml/2006/main">
          <a:graphicData uri="http://schemas.openxmlformats.org/drawingml/2006/table">
            <a:tbl>
              <a:tblPr firstRow="0" bandRow="0"/>
              <a:tblGrid>
                <a:gridCol w="2552700"/>
                <a:gridCol w="1333500"/>
                <a:gridCol w="1333500"/>
              </a:tblGrid>
              <a:tr h="504825">
                <a:tc>
                  <a:txBody>
                    <a:bodyPr lIns="95250" tIns="95250" rIns="95250" bIns="95250"/>
                    <a:lstStyle/>
                    <a:p>
                      <a:r>
                        <a:rPr sz="1800" b="1">
                          <a:solidFill>
                            <a:srgbClr val="FFFFFF"/>
                          </a:solidFill>
                          <a:latin typeface="DejaVu Sans"/>
                          <a:ea typeface="DejaVu Sans"/>
                          <a:cs typeface="DejaVu Sans"/>
                        </a:rPr>
                        <a:t>True / predicted</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Good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504825">
                <a:tc>
                  <a:txBody>
                    <a:bodyPr lIns="95250" tIns="95250" rIns="95250" bIns="95250"/>
                    <a:lstStyle/>
                    <a:p>
                      <a:r>
                        <a:rPr sz="1800" b="0">
                          <a:solidFill>
                            <a:srgbClr val="172B4D"/>
                          </a:solidFill>
                          <a:latin typeface="DejaVu Sans"/>
                          <a:ea typeface="DejaVu Sans"/>
                          <a:cs typeface="DejaVu Sans"/>
                        </a:rPr>
                        <a:t>Good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504825">
                <a:tc>
                  <a:txBody>
                    <a:bodyPr lIns="95250" tIns="95250" rIns="95250" bIns="95250"/>
                    <a:lstStyle/>
                    <a:p>
                      <a:r>
                        <a:rPr sz="1800" b="0">
                          <a:solidFill>
                            <a:srgbClr val="172B4D"/>
                          </a:solidFill>
                          <a:latin typeface="DejaVu Sans"/>
                          <a:ea typeface="DejaVu Sans"/>
                          <a:cs typeface="DejaVu Sans"/>
                        </a:rPr>
                        <a:t>Bad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134</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C8064DF-14A2-4810-8528-E1781E28E8B6}"/>
              </a:ext>
            </a:extLst>
          </p:cNvPr>
          <p:cNvSpPr>
            <a:spLocks xmlns:a="http://schemas.openxmlformats.org/drawingml/2006/main" noGrp="1"/>
          </p:cNvSpPr>
          <p:nvPr/>
        </p:nvSpPr>
        <p:spPr>
          <a:xfrm xmlns:a="http://schemas.openxmlformats.org/drawingml/2006/main">
            <a:off x="6286500" y="15240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006D77"/>
                </a:solidFill>
                <a:latin typeface="DejaVu Sans"/>
                <a:ea typeface="DejaVu Sans"/>
                <a:cs typeface="DejaVu Sans"/>
              </a:defRPr>
            </a:defPPr>
            <a:lvl1pPr>
              <a:defRPr sz="1950" b="1">
                <a:solidFill>
                  <a:srgbClr val="006D77"/>
                </a:solidFill>
                <a:latin typeface="DejaVu Sans"/>
                <a:ea typeface="DejaVu Sans"/>
                <a:cs typeface="DejaVu Sans"/>
              </a:defRPr>
            </a:lvl1pPr>
            <a:lvl2pPr>
              <a:defRPr sz="1950" b="1">
                <a:solidFill>
                  <a:srgbClr val="006D77"/>
                </a:solidFill>
                <a:latin typeface="DejaVu Sans"/>
                <a:ea typeface="DejaVu Sans"/>
                <a:cs typeface="DejaVu Sans"/>
              </a:defRPr>
            </a:lvl2pPr>
            <a:lvl3pPr>
              <a:defRPr sz="1950" b="1">
                <a:solidFill>
                  <a:srgbClr val="006D77"/>
                </a:solidFill>
                <a:latin typeface="DejaVu Sans"/>
                <a:ea typeface="DejaVu Sans"/>
                <a:cs typeface="DejaVu Sans"/>
              </a:defRPr>
            </a:lvl3pPr>
            <a:lvl4pPr>
              <a:defRPr sz="1950" b="1">
                <a:solidFill>
                  <a:srgbClr val="006D77"/>
                </a:solidFill>
                <a:latin typeface="DejaVu Sans"/>
                <a:ea typeface="DejaVu Sans"/>
                <a:cs typeface="DejaVu Sans"/>
              </a:defRPr>
            </a:lvl4pPr>
            <a:lvl5pPr>
              <a:defRPr sz="1950" b="1">
                <a:solidFill>
                  <a:srgbClr val="006D77"/>
                </a:solidFill>
                <a:latin typeface="DejaVu Sans"/>
                <a:ea typeface="DejaVu Sans"/>
                <a:cs typeface="DejaVu Sans"/>
              </a:defRPr>
            </a:lvl5pPr>
            <a:lvl6pPr>
              <a:defRPr sz="1950" b="1">
                <a:solidFill>
                  <a:srgbClr val="006D77"/>
                </a:solidFill>
                <a:latin typeface="DejaVu Sans"/>
                <a:ea typeface="DejaVu Sans"/>
                <a:cs typeface="DejaVu Sans"/>
              </a:defRPr>
            </a:lvl6pPr>
            <a:lvl7pPr>
              <a:defRPr sz="1950" b="1">
                <a:solidFill>
                  <a:srgbClr val="006D77"/>
                </a:solidFill>
                <a:latin typeface="DejaVu Sans"/>
                <a:ea typeface="DejaVu Sans"/>
                <a:cs typeface="DejaVu Sans"/>
              </a:defRPr>
            </a:lvl7pPr>
            <a:lvl8pPr>
              <a:defRPr sz="1950" b="1">
                <a:solidFill>
                  <a:srgbClr val="006D77"/>
                </a:solidFill>
                <a:latin typeface="DejaVu Sans"/>
                <a:ea typeface="DejaVu Sans"/>
                <a:cs typeface="DejaVu Sans"/>
              </a:defRPr>
            </a:lvl8pPr>
            <a:lvl9pPr>
              <a:defRPr sz="1950" b="1">
                <a:solidFill>
                  <a:srgbClr val="006D77"/>
                </a:solidFill>
                <a:latin typeface="DejaVu Sans"/>
                <a:ea typeface="DejaVu Sans"/>
                <a:cs typeface="DejaVu Sans"/>
              </a:defRPr>
            </a:lvl9pPr>
          </a:lstStyle>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EfficientNetB0</a:t>
            </a:r>
          </a:p>
        </p:txBody>
      </p:sp>
      <p:graphicFrame>
        <p:nvGraphicFramePr>
          <p:cNvPr id="6" name="">
            <a:extLst xmlns:a="http://schemas.openxmlformats.org/drawingml/2006/main">
              <a:ext uri="{FF2B5EF4-FFF2-40B4-BE49-F238E27FC236}">
                <a16:creationId xmlns:a16="http://schemas.microsoft.com/office/drawing/2014/main" id="{F930CED5-BCD0-4BF1-8D58-74E2BFA903B0}"/>
              </a:ext>
            </a:extLst>
          </p:cNvPr>
          <p:cNvGraphicFramePr/>
          <p:nvPr/>
        </p:nvGraphicFramePr>
        <p:xfrm>
          <a:off xmlns:a="http://schemas.openxmlformats.org/drawingml/2006/main" x="6286500" y="1981200"/>
          <a:ext xmlns:a="http://schemas.openxmlformats.org/drawingml/2006/main" cx="5219700" cy="1514475"/>
        </p:xfrm>
        <a:graphic xmlns:a="http://schemas.openxmlformats.org/drawingml/2006/main">
          <a:graphicData uri="http://schemas.openxmlformats.org/drawingml/2006/table">
            <a:tbl>
              <a:tblPr firstRow="0" bandRow="0"/>
              <a:tblGrid>
                <a:gridCol w="2552700"/>
                <a:gridCol w="1333500"/>
                <a:gridCol w="1333500"/>
              </a:tblGrid>
              <a:tr h="504825">
                <a:tc>
                  <a:txBody>
                    <a:bodyPr lIns="95250" tIns="95250" rIns="95250" bIns="95250"/>
                    <a:lstStyle/>
                    <a:p>
                      <a:r>
                        <a:rPr sz="1800" b="1">
                          <a:solidFill>
                            <a:srgbClr val="FFFFFF"/>
                          </a:solidFill>
                          <a:latin typeface="DejaVu Sans"/>
                          <a:ea typeface="DejaVu Sans"/>
                          <a:cs typeface="DejaVu Sans"/>
                        </a:rPr>
                        <a:t>True / predicted</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Good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504825">
                <a:tc>
                  <a:txBody>
                    <a:bodyPr lIns="95250" tIns="95250" rIns="95250" bIns="95250"/>
                    <a:lstStyle/>
                    <a:p>
                      <a:r>
                        <a:rPr sz="1800" b="0">
                          <a:solidFill>
                            <a:srgbClr val="172B4D"/>
                          </a:solidFill>
                          <a:latin typeface="DejaVu Sans"/>
                          <a:ea typeface="DejaVu Sans"/>
                          <a:cs typeface="DejaVu Sans"/>
                        </a:rPr>
                        <a:t>Good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504825">
                <a:tc>
                  <a:txBody>
                    <a:bodyPr lIns="95250" tIns="95250" rIns="95250" bIns="95250"/>
                    <a:lstStyle/>
                    <a:p>
                      <a:r>
                        <a:rPr sz="1800" b="0">
                          <a:solidFill>
                            <a:srgbClr val="172B4D"/>
                          </a:solidFill>
                          <a:latin typeface="DejaVu Sans"/>
                          <a:ea typeface="DejaVu Sans"/>
                          <a:cs typeface="DejaVu Sans"/>
                        </a:rPr>
                        <a:t>Bad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3</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132</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5C8A00D2-49B5-43E9-AA68-CCFD6AC03D9B}"/>
              </a:ext>
            </a:extLst>
          </p:cNvPr>
          <p:cNvSpPr>
            <a:spLocks xmlns:a="http://schemas.openxmlformats.org/drawingml/2006/main" noGrp="1"/>
          </p:cNvSpPr>
          <p:nvPr/>
        </p:nvSpPr>
        <p:spPr>
          <a:xfrm xmlns:a="http://schemas.openxmlformats.org/drawingml/2006/main">
            <a:off x="609600" y="37719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006D77"/>
                </a:solidFill>
                <a:latin typeface="DejaVu Sans"/>
                <a:ea typeface="DejaVu Sans"/>
                <a:cs typeface="DejaVu Sans"/>
              </a:defRPr>
            </a:defPPr>
            <a:lvl1pPr>
              <a:defRPr sz="1950" b="1">
                <a:solidFill>
                  <a:srgbClr val="006D77"/>
                </a:solidFill>
                <a:latin typeface="DejaVu Sans"/>
                <a:ea typeface="DejaVu Sans"/>
                <a:cs typeface="DejaVu Sans"/>
              </a:defRPr>
            </a:lvl1pPr>
            <a:lvl2pPr>
              <a:defRPr sz="1950" b="1">
                <a:solidFill>
                  <a:srgbClr val="006D77"/>
                </a:solidFill>
                <a:latin typeface="DejaVu Sans"/>
                <a:ea typeface="DejaVu Sans"/>
                <a:cs typeface="DejaVu Sans"/>
              </a:defRPr>
            </a:lvl2pPr>
            <a:lvl3pPr>
              <a:defRPr sz="1950" b="1">
                <a:solidFill>
                  <a:srgbClr val="006D77"/>
                </a:solidFill>
                <a:latin typeface="DejaVu Sans"/>
                <a:ea typeface="DejaVu Sans"/>
                <a:cs typeface="DejaVu Sans"/>
              </a:defRPr>
            </a:lvl3pPr>
            <a:lvl4pPr>
              <a:defRPr sz="1950" b="1">
                <a:solidFill>
                  <a:srgbClr val="006D77"/>
                </a:solidFill>
                <a:latin typeface="DejaVu Sans"/>
                <a:ea typeface="DejaVu Sans"/>
                <a:cs typeface="DejaVu Sans"/>
              </a:defRPr>
            </a:lvl4pPr>
            <a:lvl5pPr>
              <a:defRPr sz="1950" b="1">
                <a:solidFill>
                  <a:srgbClr val="006D77"/>
                </a:solidFill>
                <a:latin typeface="DejaVu Sans"/>
                <a:ea typeface="DejaVu Sans"/>
                <a:cs typeface="DejaVu Sans"/>
              </a:defRPr>
            </a:lvl5pPr>
            <a:lvl6pPr>
              <a:defRPr sz="1950" b="1">
                <a:solidFill>
                  <a:srgbClr val="006D77"/>
                </a:solidFill>
                <a:latin typeface="DejaVu Sans"/>
                <a:ea typeface="DejaVu Sans"/>
                <a:cs typeface="DejaVu Sans"/>
              </a:defRPr>
            </a:lvl6pPr>
            <a:lvl7pPr>
              <a:defRPr sz="1950" b="1">
                <a:solidFill>
                  <a:srgbClr val="006D77"/>
                </a:solidFill>
                <a:latin typeface="DejaVu Sans"/>
                <a:ea typeface="DejaVu Sans"/>
                <a:cs typeface="DejaVu Sans"/>
              </a:defRPr>
            </a:lvl7pPr>
            <a:lvl8pPr>
              <a:defRPr sz="1950" b="1">
                <a:solidFill>
                  <a:srgbClr val="006D77"/>
                </a:solidFill>
                <a:latin typeface="DejaVu Sans"/>
                <a:ea typeface="DejaVu Sans"/>
                <a:cs typeface="DejaVu Sans"/>
              </a:defRPr>
            </a:lvl8pPr>
            <a:lvl9pPr>
              <a:defRPr sz="1950" b="1">
                <a:solidFill>
                  <a:srgbClr val="006D77"/>
                </a:solidFill>
                <a:latin typeface="DejaVu Sans"/>
                <a:ea typeface="DejaVu Sans"/>
                <a:cs typeface="DejaVu Sans"/>
              </a:defRPr>
            </a:lvl9pPr>
          </a:lstStyle>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YOLOv8n-cls</a:t>
            </a:r>
          </a:p>
        </p:txBody>
      </p:sp>
      <p:graphicFrame>
        <p:nvGraphicFramePr>
          <p:cNvPr id="8" name="">
            <a:extLst xmlns:a="http://schemas.openxmlformats.org/drawingml/2006/main">
              <a:ext uri="{FF2B5EF4-FFF2-40B4-BE49-F238E27FC236}">
                <a16:creationId xmlns:a16="http://schemas.microsoft.com/office/drawing/2014/main" id="{D6D4D32C-A014-49A8-89CE-B0B80566FD5F}"/>
              </a:ext>
            </a:extLst>
          </p:cNvPr>
          <p:cNvGraphicFramePr/>
          <p:nvPr/>
        </p:nvGraphicFramePr>
        <p:xfrm>
          <a:off xmlns:a="http://schemas.openxmlformats.org/drawingml/2006/main" x="609600" y="4229100"/>
          <a:ext xmlns:a="http://schemas.openxmlformats.org/drawingml/2006/main" cx="5219700" cy="1514475"/>
        </p:xfrm>
        <a:graphic xmlns:a="http://schemas.openxmlformats.org/drawingml/2006/main">
          <a:graphicData uri="http://schemas.openxmlformats.org/drawingml/2006/table">
            <a:tbl>
              <a:tblPr firstRow="0" bandRow="0"/>
              <a:tblGrid>
                <a:gridCol w="2552700"/>
                <a:gridCol w="1333500"/>
                <a:gridCol w="1333500"/>
              </a:tblGrid>
              <a:tr h="504825">
                <a:tc>
                  <a:txBody>
                    <a:bodyPr lIns="95250" tIns="95250" rIns="95250" bIns="95250"/>
                    <a:lstStyle/>
                    <a:p>
                      <a:r>
                        <a:rPr sz="1800" b="1">
                          <a:solidFill>
                            <a:srgbClr val="FFFFFF"/>
                          </a:solidFill>
                          <a:latin typeface="DejaVu Sans"/>
                          <a:ea typeface="DejaVu Sans"/>
                          <a:cs typeface="DejaVu Sans"/>
                        </a:rPr>
                        <a:t>True / predicted</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Good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504825">
                <a:tc>
                  <a:txBody>
                    <a:bodyPr lIns="95250" tIns="95250" rIns="95250" bIns="95250"/>
                    <a:lstStyle/>
                    <a:p>
                      <a:r>
                        <a:rPr sz="1800" b="0">
                          <a:solidFill>
                            <a:srgbClr val="172B4D"/>
                          </a:solidFill>
                          <a:latin typeface="DejaVu Sans"/>
                          <a:ea typeface="DejaVu Sans"/>
                          <a:cs typeface="DejaVu Sans"/>
                        </a:rPr>
                        <a:t>Good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504825">
                <a:tc>
                  <a:txBody>
                    <a:bodyPr lIns="95250" tIns="95250" rIns="95250" bIns="95250"/>
                    <a:lstStyle/>
                    <a:p>
                      <a:r>
                        <a:rPr sz="1800" b="0">
                          <a:solidFill>
                            <a:srgbClr val="172B4D"/>
                          </a:solidFill>
                          <a:latin typeface="DejaVu Sans"/>
                          <a:ea typeface="DejaVu Sans"/>
                          <a:cs typeface="DejaVu Sans"/>
                        </a:rPr>
                        <a:t>Bad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3</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132</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9" name="text-5">
            <a:extLst xmlns:a="http://schemas.openxmlformats.org/drawingml/2006/main">
              <a:ext uri="{FF2B5EF4-FFF2-40B4-BE49-F238E27FC236}">
                <a16:creationId xmlns:a16="http://schemas.microsoft.com/office/drawing/2014/main" id="{69F21157-9756-4EFC-BD91-A0C8220F5D8E}"/>
              </a:ext>
            </a:extLst>
          </p:cNvPr>
          <p:cNvSpPr>
            <a:spLocks xmlns:a="http://schemas.openxmlformats.org/drawingml/2006/main" noGrp="1"/>
          </p:cNvSpPr>
          <p:nvPr/>
        </p:nvSpPr>
        <p:spPr>
          <a:xfrm xmlns:a="http://schemas.openxmlformats.org/drawingml/2006/main">
            <a:off x="6286500" y="37719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006D77"/>
                </a:solidFill>
                <a:latin typeface="DejaVu Sans"/>
                <a:ea typeface="DejaVu Sans"/>
                <a:cs typeface="DejaVu Sans"/>
              </a:defRPr>
            </a:defPPr>
            <a:lvl1pPr>
              <a:defRPr sz="1950" b="1">
                <a:solidFill>
                  <a:srgbClr val="006D77"/>
                </a:solidFill>
                <a:latin typeface="DejaVu Sans"/>
                <a:ea typeface="DejaVu Sans"/>
                <a:cs typeface="DejaVu Sans"/>
              </a:defRPr>
            </a:lvl1pPr>
            <a:lvl2pPr>
              <a:defRPr sz="1950" b="1">
                <a:solidFill>
                  <a:srgbClr val="006D77"/>
                </a:solidFill>
                <a:latin typeface="DejaVu Sans"/>
                <a:ea typeface="DejaVu Sans"/>
                <a:cs typeface="DejaVu Sans"/>
              </a:defRPr>
            </a:lvl2pPr>
            <a:lvl3pPr>
              <a:defRPr sz="1950" b="1">
                <a:solidFill>
                  <a:srgbClr val="006D77"/>
                </a:solidFill>
                <a:latin typeface="DejaVu Sans"/>
                <a:ea typeface="DejaVu Sans"/>
                <a:cs typeface="DejaVu Sans"/>
              </a:defRPr>
            </a:lvl3pPr>
            <a:lvl4pPr>
              <a:defRPr sz="1950" b="1">
                <a:solidFill>
                  <a:srgbClr val="006D77"/>
                </a:solidFill>
                <a:latin typeface="DejaVu Sans"/>
                <a:ea typeface="DejaVu Sans"/>
                <a:cs typeface="DejaVu Sans"/>
              </a:defRPr>
            </a:lvl4pPr>
            <a:lvl5pPr>
              <a:defRPr sz="1950" b="1">
                <a:solidFill>
                  <a:srgbClr val="006D77"/>
                </a:solidFill>
                <a:latin typeface="DejaVu Sans"/>
                <a:ea typeface="DejaVu Sans"/>
                <a:cs typeface="DejaVu Sans"/>
              </a:defRPr>
            </a:lvl5pPr>
            <a:lvl6pPr>
              <a:defRPr sz="1950" b="1">
                <a:solidFill>
                  <a:srgbClr val="006D77"/>
                </a:solidFill>
                <a:latin typeface="DejaVu Sans"/>
                <a:ea typeface="DejaVu Sans"/>
                <a:cs typeface="DejaVu Sans"/>
              </a:defRPr>
            </a:lvl6pPr>
            <a:lvl7pPr>
              <a:defRPr sz="1950" b="1">
                <a:solidFill>
                  <a:srgbClr val="006D77"/>
                </a:solidFill>
                <a:latin typeface="DejaVu Sans"/>
                <a:ea typeface="DejaVu Sans"/>
                <a:cs typeface="DejaVu Sans"/>
              </a:defRPr>
            </a:lvl7pPr>
            <a:lvl8pPr>
              <a:defRPr sz="1950" b="1">
                <a:solidFill>
                  <a:srgbClr val="006D77"/>
                </a:solidFill>
                <a:latin typeface="DejaVu Sans"/>
                <a:ea typeface="DejaVu Sans"/>
                <a:cs typeface="DejaVu Sans"/>
              </a:defRPr>
            </a:lvl8pPr>
            <a:lvl9pPr>
              <a:defRPr sz="1950" b="1">
                <a:solidFill>
                  <a:srgbClr val="006D77"/>
                </a:solidFill>
                <a:latin typeface="DejaVu Sans"/>
                <a:ea typeface="DejaVu Sans"/>
                <a:cs typeface="DejaVu Sans"/>
              </a:defRPr>
            </a:lvl9pPr>
          </a:lstStyle>
          <a:p xmlns:a="http://schemas.openxmlformats.org/drawingml/2006/main">
            <a:pPr>
              <a:defRPr sz="1950" b="1">
                <a:solidFill>
                  <a:srgbClr val="006D77"/>
                </a:solidFill>
                <a:latin typeface="DejaVu Sans"/>
                <a:ea typeface="DejaVu Sans"/>
                <a:cs typeface="DejaVu Sans"/>
              </a:defRPr>
            </a:pPr>
            <a:r>
              <a:rPr sz="1950" b="1">
                <a:solidFill>
                  <a:srgbClr val="006D77"/>
                </a:solidFill>
                <a:latin typeface="DejaVu Sans"/>
                <a:ea typeface="DejaVu Sans"/>
                <a:cs typeface="DejaVu Sans"/>
              </a:rPr>
              <a:t>YOLOv8s-cls</a:t>
            </a:r>
          </a:p>
        </p:txBody>
      </p:sp>
      <p:graphicFrame>
        <p:nvGraphicFramePr>
          <p:cNvPr id="10" name="">
            <a:extLst xmlns:a="http://schemas.openxmlformats.org/drawingml/2006/main">
              <a:ext uri="{FF2B5EF4-FFF2-40B4-BE49-F238E27FC236}">
                <a16:creationId xmlns:a16="http://schemas.microsoft.com/office/drawing/2014/main" id="{4B6B44CB-F6C6-4C45-A55A-D44ED4BAC072}"/>
              </a:ext>
            </a:extLst>
          </p:cNvPr>
          <p:cNvGraphicFramePr/>
          <p:nvPr/>
        </p:nvGraphicFramePr>
        <p:xfrm>
          <a:off xmlns:a="http://schemas.openxmlformats.org/drawingml/2006/main" x="6286500" y="4229100"/>
          <a:ext xmlns:a="http://schemas.openxmlformats.org/drawingml/2006/main" cx="5219700" cy="1514475"/>
        </p:xfrm>
        <a:graphic xmlns:a="http://schemas.openxmlformats.org/drawingml/2006/main">
          <a:graphicData uri="http://schemas.openxmlformats.org/drawingml/2006/table">
            <a:tbl>
              <a:tblPr firstRow="0" bandRow="0"/>
              <a:tblGrid>
                <a:gridCol w="2552700"/>
                <a:gridCol w="1333500"/>
                <a:gridCol w="1333500"/>
              </a:tblGrid>
              <a:tr h="504825">
                <a:tc>
                  <a:txBody>
                    <a:bodyPr lIns="95250" tIns="95250" rIns="95250" bIns="95250"/>
                    <a:lstStyle/>
                    <a:p>
                      <a:r>
                        <a:rPr sz="1800" b="1">
                          <a:solidFill>
                            <a:srgbClr val="FFFFFF"/>
                          </a:solidFill>
                          <a:latin typeface="DejaVu Sans"/>
                          <a:ea typeface="DejaVu Sans"/>
                          <a:cs typeface="DejaVu Sans"/>
                        </a:rPr>
                        <a:t>True / predicted</a:t>
                      </a:r>
                    </a:p>
                  </a:txBody>
                  <a:tcPr marL="91440" marR="91440" marT="45720" marB="4572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Good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c>
                  <a:txBody>
                    <a:bodyPr lIns="95250" tIns="95250" rIns="95250" bIns="95250"/>
                    <a:lstStyle/>
                    <a:p>
                      <a:r>
                        <a:rPr sz="1800" b="1">
                          <a:solidFill>
                            <a:srgbClr val="FFFFFF"/>
                          </a:solidFill>
                          <a:latin typeface="DejaVu Sans"/>
                          <a:ea typeface="DejaVu Sans"/>
                          <a:cs typeface="DejaVu Sans"/>
                        </a:rPr>
                        <a:t>Bad</a:t>
                      </a:r>
                    </a:p>
                  </a:txBody>
                  <a:tcPr marL="91440" marR="91440" marT="45720" marB="45720" anchor="ctr">
                    <a:lnR w="6668">
                      <a:solidFill>
                        <a:srgbClr val="D9E2E8"/>
                      </a:solidFill>
                      <a:prstDash val="solid"/>
                    </a:lnR>
                    <a:lnT w="6668">
                      <a:solidFill>
                        <a:srgbClr val="D9E2E8"/>
                      </a:solidFill>
                      <a:prstDash val="solid"/>
                    </a:lnT>
                    <a:lnB w="6668">
                      <a:solidFill>
                        <a:srgbClr val="D9E2E8"/>
                      </a:solidFill>
                      <a:prstDash val="solid"/>
                    </a:lnB>
                    <a:solidFill>
                      <a:srgbClr val="172B4D"/>
                    </a:solidFill>
                  </a:tcPr>
                </a:tc>
              </a:tr>
              <a:tr h="504825">
                <a:tc>
                  <a:txBody>
                    <a:bodyPr lIns="95250" tIns="95250" rIns="95250" bIns="95250"/>
                    <a:lstStyle/>
                    <a:p>
                      <a:r>
                        <a:rPr sz="1800" b="0">
                          <a:solidFill>
                            <a:srgbClr val="172B4D"/>
                          </a:solidFill>
                          <a:latin typeface="DejaVu Sans"/>
                          <a:ea typeface="DejaVu Sans"/>
                          <a:cs typeface="DejaVu Sans"/>
                        </a:rPr>
                        <a:t>Good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135</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0</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r h="504825">
                <a:tc>
                  <a:txBody>
                    <a:bodyPr lIns="95250" tIns="95250" rIns="95250" bIns="95250"/>
                    <a:lstStyle/>
                    <a:p>
                      <a:r>
                        <a:rPr sz="1800" b="0">
                          <a:solidFill>
                            <a:srgbClr val="172B4D"/>
                          </a:solidFill>
                          <a:latin typeface="DejaVu Sans"/>
                          <a:ea typeface="DejaVu Sans"/>
                          <a:cs typeface="DejaVu Sans"/>
                        </a:rPr>
                        <a:t>Bad</a:t>
                      </a:r>
                    </a:p>
                  </a:txBody>
                  <a:tcPr marL="91440" marR="91440" marT="45720" marB="4572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2</a:t>
                      </a:r>
                    </a:p>
                  </a:txBody>
                  <a:tcPr marL="91440" marR="91440" marT="45720" marB="45720" anchor="ctr">
                    <a:lnR w="6668">
                      <a:solidFill>
                        <a:srgbClr val="D9E2E8"/>
                      </a:solidFill>
                      <a:prstDash val="solid"/>
                    </a:lnR>
                    <a:lnB w="6668">
                      <a:solidFill>
                        <a:srgbClr val="D9E2E8"/>
                      </a:solidFill>
                      <a:prstDash val="solid"/>
                    </a:lnB>
                    <a:solidFill>
                      <a:srgbClr val="FFFFFF"/>
                    </a:solidFill>
                  </a:tcPr>
                </a:tc>
                <a:tc>
                  <a:txBody>
                    <a:bodyPr lIns="95250" tIns="95250" rIns="95250" bIns="95250"/>
                    <a:lstStyle/>
                    <a:p>
                      <a:r>
                        <a:rPr sz="1800" b="0">
                          <a:solidFill>
                            <a:srgbClr val="172B4D"/>
                          </a:solidFill>
                          <a:latin typeface="DejaVu Sans"/>
                          <a:ea typeface="DejaVu Sans"/>
                          <a:cs typeface="DejaVu Sans"/>
                        </a:rPr>
                        <a:t>133</a:t>
                      </a:r>
                    </a:p>
                  </a:txBody>
                  <a:tcPr marL="91440" marR="91440" marT="45720" marB="45720" anchor="ctr">
                    <a:lnR w="6668">
                      <a:solidFill>
                        <a:srgbClr val="D9E2E8"/>
                      </a:solidFill>
                      <a:prstDash val="solid"/>
                    </a:lnR>
                    <a:lnB w="6668">
                      <a:solidFill>
                        <a:srgbClr val="D9E2E8"/>
                      </a:solidFill>
                      <a:prstDash val="solid"/>
                    </a:lnB>
                    <a:solidFill>
                      <a:srgbClr val="FFFFFF"/>
                    </a:solidFill>
                  </a:tcPr>
                </a:tc>
              </a:tr>
            </a:tbl>
          </a:graphicData>
        </a:graphic>
      </p:graphicFrame>
    </p:spTree>
    <p:extLst>
      <p:ext uri="{BB962C8B-B14F-4D97-AF65-F5344CB8AC3E}">
        <p14:creationId xmlns:p14="http://schemas.microsoft.com/office/powerpoint/2010/main" val="18077124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DD50E51-AEEF-4E51-AB9F-9DDC4E96A1F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1">
                <a:solidFill>
                  <a:srgbClr val="172B4D"/>
                </a:solidFill>
                <a:latin typeface="DejaVu Sans"/>
                <a:ea typeface="DejaVu Sans"/>
                <a:cs typeface="DejaVu Sans"/>
              </a:defRPr>
            </a:defPPr>
            <a:lvl1pPr>
              <a:defRPr sz="3150" b="1">
                <a:solidFill>
                  <a:srgbClr val="172B4D"/>
                </a:solidFill>
                <a:latin typeface="DejaVu Sans"/>
                <a:ea typeface="DejaVu Sans"/>
                <a:cs typeface="DejaVu Sans"/>
              </a:defRPr>
            </a:lvl1pPr>
            <a:lvl2pPr>
              <a:defRPr sz="3150" b="1">
                <a:solidFill>
                  <a:srgbClr val="172B4D"/>
                </a:solidFill>
                <a:latin typeface="DejaVu Sans"/>
                <a:ea typeface="DejaVu Sans"/>
                <a:cs typeface="DejaVu Sans"/>
              </a:defRPr>
            </a:lvl2pPr>
            <a:lvl3pPr>
              <a:defRPr sz="3150" b="1">
                <a:solidFill>
                  <a:srgbClr val="172B4D"/>
                </a:solidFill>
                <a:latin typeface="DejaVu Sans"/>
                <a:ea typeface="DejaVu Sans"/>
                <a:cs typeface="DejaVu Sans"/>
              </a:defRPr>
            </a:lvl3pPr>
            <a:lvl4pPr>
              <a:defRPr sz="3150" b="1">
                <a:solidFill>
                  <a:srgbClr val="172B4D"/>
                </a:solidFill>
                <a:latin typeface="DejaVu Sans"/>
                <a:ea typeface="DejaVu Sans"/>
                <a:cs typeface="DejaVu Sans"/>
              </a:defRPr>
            </a:lvl4pPr>
            <a:lvl5pPr>
              <a:defRPr sz="3150" b="1">
                <a:solidFill>
                  <a:srgbClr val="172B4D"/>
                </a:solidFill>
                <a:latin typeface="DejaVu Sans"/>
                <a:ea typeface="DejaVu Sans"/>
                <a:cs typeface="DejaVu Sans"/>
              </a:defRPr>
            </a:lvl5pPr>
            <a:lvl6pPr>
              <a:defRPr sz="3150" b="1">
                <a:solidFill>
                  <a:srgbClr val="172B4D"/>
                </a:solidFill>
                <a:latin typeface="DejaVu Sans"/>
                <a:ea typeface="DejaVu Sans"/>
                <a:cs typeface="DejaVu Sans"/>
              </a:defRPr>
            </a:lvl6pPr>
            <a:lvl7pPr>
              <a:defRPr sz="3150" b="1">
                <a:solidFill>
                  <a:srgbClr val="172B4D"/>
                </a:solidFill>
                <a:latin typeface="DejaVu Sans"/>
                <a:ea typeface="DejaVu Sans"/>
                <a:cs typeface="DejaVu Sans"/>
              </a:defRPr>
            </a:lvl7pPr>
            <a:lvl8pPr>
              <a:defRPr sz="3150" b="1">
                <a:solidFill>
                  <a:srgbClr val="172B4D"/>
                </a:solidFill>
                <a:latin typeface="DejaVu Sans"/>
                <a:ea typeface="DejaVu Sans"/>
                <a:cs typeface="DejaVu Sans"/>
              </a:defRPr>
            </a:lvl8pPr>
            <a:lvl9pPr>
              <a:defRPr sz="3150" b="1">
                <a:solidFill>
                  <a:srgbClr val="172B4D"/>
                </a:solidFill>
                <a:latin typeface="DejaVu Sans"/>
                <a:ea typeface="DejaVu Sans"/>
                <a:cs typeface="DejaVu Sans"/>
              </a:defRPr>
            </a:lvl9pPr>
          </a:lstStyle>
          <a:p xmlns:a="http://schemas.openxmlformats.org/drawingml/2006/main">
            <a:pPr>
              <a:defRPr sz="3150" b="1">
                <a:solidFill>
                  <a:srgbClr val="172B4D"/>
                </a:solidFill>
                <a:latin typeface="DejaVu Sans"/>
                <a:ea typeface="DejaVu Sans"/>
                <a:cs typeface="DejaVu Sans"/>
              </a:defRPr>
            </a:pPr>
            <a:r>
              <a:rPr sz="3150" b="1">
                <a:solidFill>
                  <a:srgbClr val="172B4D"/>
                </a:solidFill>
                <a:latin typeface="DejaVu Sans"/>
                <a:ea typeface="DejaVu Sans"/>
                <a:cs typeface="DejaVu Sans"/>
              </a:rPr>
              <a:t>Appendix: additional learning curves</a:t>
            </a:r>
          </a:p>
        </p:txBody>
      </p:sp>
      <p:sp>
        <p:nvSpPr>
          <p:cNvPr id="2" name="text-1">
            <a:extLst xmlns:a="http://schemas.openxmlformats.org/drawingml/2006/main">
              <a:ext uri="{FF2B5EF4-FFF2-40B4-BE49-F238E27FC236}">
                <a16:creationId xmlns:a16="http://schemas.microsoft.com/office/drawing/2014/main" id="{22040AE2-4602-40CF-A55E-9B88C0B5265A}"/>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06075"/>
                </a:solidFill>
                <a:latin typeface="DejaVu Sans"/>
                <a:ea typeface="DejaVu Sans"/>
                <a:cs typeface="DejaVu Sans"/>
              </a:defRPr>
            </a:defPPr>
            <a:lvl1pPr>
              <a:defRPr sz="1350" b="0">
                <a:solidFill>
                  <a:srgbClr val="506075"/>
                </a:solidFill>
                <a:latin typeface="DejaVu Sans"/>
                <a:ea typeface="DejaVu Sans"/>
                <a:cs typeface="DejaVu Sans"/>
              </a:defRPr>
            </a:lvl1pPr>
            <a:lvl2pPr>
              <a:defRPr sz="1350" b="0">
                <a:solidFill>
                  <a:srgbClr val="506075"/>
                </a:solidFill>
                <a:latin typeface="DejaVu Sans"/>
                <a:ea typeface="DejaVu Sans"/>
                <a:cs typeface="DejaVu Sans"/>
              </a:defRPr>
            </a:lvl2pPr>
            <a:lvl3pPr>
              <a:defRPr sz="1350" b="0">
                <a:solidFill>
                  <a:srgbClr val="506075"/>
                </a:solidFill>
                <a:latin typeface="DejaVu Sans"/>
                <a:ea typeface="DejaVu Sans"/>
                <a:cs typeface="DejaVu Sans"/>
              </a:defRPr>
            </a:lvl3pPr>
            <a:lvl4pPr>
              <a:defRPr sz="1350" b="0">
                <a:solidFill>
                  <a:srgbClr val="506075"/>
                </a:solidFill>
                <a:latin typeface="DejaVu Sans"/>
                <a:ea typeface="DejaVu Sans"/>
                <a:cs typeface="DejaVu Sans"/>
              </a:defRPr>
            </a:lvl4pPr>
            <a:lvl5pPr>
              <a:defRPr sz="1350" b="0">
                <a:solidFill>
                  <a:srgbClr val="506075"/>
                </a:solidFill>
                <a:latin typeface="DejaVu Sans"/>
                <a:ea typeface="DejaVu Sans"/>
                <a:cs typeface="DejaVu Sans"/>
              </a:defRPr>
            </a:lvl5pPr>
            <a:lvl6pPr>
              <a:defRPr sz="1350" b="0">
                <a:solidFill>
                  <a:srgbClr val="506075"/>
                </a:solidFill>
                <a:latin typeface="DejaVu Sans"/>
                <a:ea typeface="DejaVu Sans"/>
                <a:cs typeface="DejaVu Sans"/>
              </a:defRPr>
            </a:lvl6pPr>
            <a:lvl7pPr>
              <a:defRPr sz="1350" b="0">
                <a:solidFill>
                  <a:srgbClr val="506075"/>
                </a:solidFill>
                <a:latin typeface="DejaVu Sans"/>
                <a:ea typeface="DejaVu Sans"/>
                <a:cs typeface="DejaVu Sans"/>
              </a:defRPr>
            </a:lvl7pPr>
            <a:lvl8pPr>
              <a:defRPr sz="1350" b="0">
                <a:solidFill>
                  <a:srgbClr val="506075"/>
                </a:solidFill>
                <a:latin typeface="DejaVu Sans"/>
                <a:ea typeface="DejaVu Sans"/>
                <a:cs typeface="DejaVu Sans"/>
              </a:defRPr>
            </a:lvl8pPr>
            <a:lvl9pPr>
              <a:defRPr sz="1350" b="0">
                <a:solidFill>
                  <a:srgbClr val="506075"/>
                </a:solidFill>
                <a:latin typeface="DejaVu Sans"/>
                <a:ea typeface="DejaVu Sans"/>
                <a:cs typeface="DejaVu Sans"/>
              </a:defRPr>
            </a:lvl9pPr>
          </a:lstStyle>
          <a:p xmlns:a="http://schemas.openxmlformats.org/drawingml/2006/main">
            <a:pPr>
              <a:defRPr sz="1350" b="0">
                <a:solidFill>
                  <a:srgbClr val="506075"/>
                </a:solidFill>
                <a:latin typeface="DejaVu Sans"/>
                <a:ea typeface="DejaVu Sans"/>
                <a:cs typeface="DejaVu Sans"/>
              </a:defRPr>
            </a:pPr>
            <a:r>
              <a:rPr sz="1350" b="0">
                <a:solidFill>
                  <a:srgbClr val="506075"/>
                </a:solidFill>
                <a:latin typeface="DejaVu Sans"/>
                <a:ea typeface="DejaVu Sans"/>
                <a:cs typeface="DejaVu Sans"/>
              </a:rPr>
              <a:t>11</a:t>
            </a:r>
          </a:p>
        </p:txBody>
      </p:sp>
      <p:graphicFrame>
        <p:nvGraphicFramePr>
          <p:cNvPr id="3" name="Chart">
            <a:extLst xmlns:a="http://schemas.openxmlformats.org/drawingml/2006/main">
              <a:ext uri="{FF2B5EF4-FFF2-40B4-BE49-F238E27FC236}">
                <a16:creationId xmlns:a16="http://schemas.microsoft.com/office/drawing/2014/main" id="{0C751DDC-BD82-4E2B-BCB4-49CDB4B08D75}"/>
              </a:ext>
            </a:extLst>
          </p:cNvPr>
          <p:cNvGraphicFramePr/>
          <p:nvPr/>
        </p:nvGraphicFramePr>
        <p:xfrm>
          <a:off xmlns:a="http://schemas.openxmlformats.org/drawingml/2006/main" x="428625" y="1381125"/>
          <a:ext xmlns:a="http://schemas.openxmlformats.org/drawingml/2006/main" cx="5524500" cy="3714750"/>
        </p:xfrm>
        <a:graphic xmlns:a="http://schemas.openxmlformats.org/drawingml/2006/main">
          <a:graphicData uri="http://schemas.openxmlformats.org/drawingml/2006/chart">
            <c:chart xmlns:r="http://schemas.openxmlformats.org/officeDocument/2006/relationships" xmlns:c="http://schemas.openxmlformats.org/drawingml/2006/chart" r:id="Ra4f2b526928148b5"/>
          </a:graphicData>
        </a:graphic>
      </p:graphicFrame>
      <p:graphicFrame>
        <p:nvGraphicFramePr>
          <p:cNvPr id="4" name="Chart">
            <a:extLst xmlns:a="http://schemas.openxmlformats.org/drawingml/2006/main">
              <a:ext uri="{FF2B5EF4-FFF2-40B4-BE49-F238E27FC236}">
                <a16:creationId xmlns:a16="http://schemas.microsoft.com/office/drawing/2014/main" id="{0AAE0996-5D68-47A9-8FD9-F9BE167F94A7}"/>
              </a:ext>
            </a:extLst>
          </p:cNvPr>
          <p:cNvGraphicFramePr/>
          <p:nvPr/>
        </p:nvGraphicFramePr>
        <p:xfrm>
          <a:off xmlns:a="http://schemas.openxmlformats.org/drawingml/2006/main" x="6238875" y="1381125"/>
          <a:ext xmlns:a="http://schemas.openxmlformats.org/drawingml/2006/main" cx="5524500" cy="3714750"/>
        </p:xfrm>
        <a:graphic xmlns:a="http://schemas.openxmlformats.org/drawingml/2006/main">
          <a:graphicData uri="http://schemas.openxmlformats.org/drawingml/2006/chart">
            <c:chart xmlns:r="http://schemas.openxmlformats.org/officeDocument/2006/relationships" xmlns:c="http://schemas.openxmlformats.org/drawingml/2006/chart" r:id="R3c899142e1e84828"/>
          </a:graphicData>
        </a:graphic>
      </p:graphicFrame>
      <p:sp>
        <p:nvSpPr>
          <p:cNvPr id="5" name="text-2">
            <a:extLst xmlns:a="http://schemas.openxmlformats.org/drawingml/2006/main">
              <a:ext uri="{FF2B5EF4-FFF2-40B4-BE49-F238E27FC236}">
                <a16:creationId xmlns:a16="http://schemas.microsoft.com/office/drawing/2014/main" id="{CA6F4CCA-82EA-424C-A6D5-E604E102D70F}"/>
              </a:ext>
            </a:extLst>
          </p:cNvPr>
          <p:cNvSpPr>
            <a:spLocks xmlns:a="http://schemas.openxmlformats.org/drawingml/2006/main" noGrp="1"/>
          </p:cNvSpPr>
          <p:nvPr/>
        </p:nvSpPr>
        <p:spPr>
          <a:xfrm xmlns:a="http://schemas.openxmlformats.org/drawingml/2006/main">
            <a:off x="609600" y="5381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72B4D"/>
                </a:solidFill>
                <a:latin typeface="DejaVu Sans"/>
                <a:ea typeface="DejaVu Sans"/>
                <a:cs typeface="DejaVu Sans"/>
              </a:defRPr>
            </a:defPPr>
            <a:lvl1pPr>
              <a:defRPr sz="1950" b="0">
                <a:solidFill>
                  <a:srgbClr val="172B4D"/>
                </a:solidFill>
                <a:latin typeface="DejaVu Sans"/>
                <a:ea typeface="DejaVu Sans"/>
                <a:cs typeface="DejaVu Sans"/>
              </a:defRPr>
            </a:lvl1pPr>
            <a:lvl2pPr>
              <a:defRPr sz="1950" b="0">
                <a:solidFill>
                  <a:srgbClr val="172B4D"/>
                </a:solidFill>
                <a:latin typeface="DejaVu Sans"/>
                <a:ea typeface="DejaVu Sans"/>
                <a:cs typeface="DejaVu Sans"/>
              </a:defRPr>
            </a:lvl2pPr>
            <a:lvl3pPr>
              <a:defRPr sz="1950" b="0">
                <a:solidFill>
                  <a:srgbClr val="172B4D"/>
                </a:solidFill>
                <a:latin typeface="DejaVu Sans"/>
                <a:ea typeface="DejaVu Sans"/>
                <a:cs typeface="DejaVu Sans"/>
              </a:defRPr>
            </a:lvl3pPr>
            <a:lvl4pPr>
              <a:defRPr sz="1950" b="0">
                <a:solidFill>
                  <a:srgbClr val="172B4D"/>
                </a:solidFill>
                <a:latin typeface="DejaVu Sans"/>
                <a:ea typeface="DejaVu Sans"/>
                <a:cs typeface="DejaVu Sans"/>
              </a:defRPr>
            </a:lvl4pPr>
            <a:lvl5pPr>
              <a:defRPr sz="1950" b="0">
                <a:solidFill>
                  <a:srgbClr val="172B4D"/>
                </a:solidFill>
                <a:latin typeface="DejaVu Sans"/>
                <a:ea typeface="DejaVu Sans"/>
                <a:cs typeface="DejaVu Sans"/>
              </a:defRPr>
            </a:lvl5pPr>
            <a:lvl6pPr>
              <a:defRPr sz="1950" b="0">
                <a:solidFill>
                  <a:srgbClr val="172B4D"/>
                </a:solidFill>
                <a:latin typeface="DejaVu Sans"/>
                <a:ea typeface="DejaVu Sans"/>
                <a:cs typeface="DejaVu Sans"/>
              </a:defRPr>
            </a:lvl6pPr>
            <a:lvl7pPr>
              <a:defRPr sz="1950" b="0">
                <a:solidFill>
                  <a:srgbClr val="172B4D"/>
                </a:solidFill>
                <a:latin typeface="DejaVu Sans"/>
                <a:ea typeface="DejaVu Sans"/>
                <a:cs typeface="DejaVu Sans"/>
              </a:defRPr>
            </a:lvl7pPr>
            <a:lvl8pPr>
              <a:defRPr sz="1950" b="0">
                <a:solidFill>
                  <a:srgbClr val="172B4D"/>
                </a:solidFill>
                <a:latin typeface="DejaVu Sans"/>
                <a:ea typeface="DejaVu Sans"/>
                <a:cs typeface="DejaVu Sans"/>
              </a:defRPr>
            </a:lvl8pPr>
            <a:lvl9pPr>
              <a:defRPr sz="1950" b="0">
                <a:solidFill>
                  <a:srgbClr val="172B4D"/>
                </a:solidFill>
                <a:latin typeface="DejaVu Sans"/>
                <a:ea typeface="DejaVu Sans"/>
                <a:cs typeface="DejaVu Sans"/>
              </a:defRPr>
            </a:lvl9pPr>
          </a:lstStyle>
          <a:p xmlns:a="http://schemas.openxmlformats.org/drawingml/2006/main">
            <a:pPr>
              <a:defRPr sz="1950" b="0">
                <a:solidFill>
                  <a:srgbClr val="172B4D"/>
                </a:solidFill>
                <a:latin typeface="DejaVu Sans"/>
                <a:ea typeface="DejaVu Sans"/>
                <a:cs typeface="DejaVu Sans"/>
              </a:defRPr>
            </a:pPr>
            <a:r>
              <a:rPr sz="1950" b="0">
                <a:solidFill>
                  <a:srgbClr val="172B4D"/>
                </a:solidFill>
                <a:latin typeface="DejaVu Sans"/>
                <a:ea typeface="DejaVu Sans"/>
                <a:cs typeface="DejaVu Sans"/>
              </a:rPr>
              <a:t>EfficientNetB0 best checkpoint: epoch 11</a:t>
            </a:r>
          </a:p>
          <a:p xmlns:a="http://schemas.openxmlformats.org/drawingml/2006/main">
            <a:pPr>
              <a:defRPr sz="1950" b="0">
                <a:solidFill>
                  <a:srgbClr val="172B4D"/>
                </a:solidFill>
                <a:latin typeface="DejaVu Sans"/>
                <a:ea typeface="DejaVu Sans"/>
                <a:cs typeface="DejaVu Sans"/>
              </a:defRPr>
            </a:pPr>
            <a:r>
              <a:rPr sz="1950" b="0">
                <a:solidFill>
                  <a:srgbClr val="172B4D"/>
                </a:solidFill>
                <a:latin typeface="DejaVu Sans"/>
                <a:ea typeface="DejaVu Sans"/>
                <a:cs typeface="DejaVu Sans"/>
              </a:rPr>
              <a:t>YOLOv8s best validation fitness first at epoch 3</a:t>
            </a:r>
          </a:p>
        </p:txBody>
      </p:sp>
    </p:spTree>
    <p:extLst>
      <p:ext uri="{BB962C8B-B14F-4D97-AF65-F5344CB8AC3E}">
        <p14:creationId xmlns:p14="http://schemas.microsoft.com/office/powerpoint/2010/main" val="2040811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2026-10-25T15:33:28.1350000Z</dcterms:created>
  <dcterms:modified xsi:type="dcterms:W3CDTF">2026-10-25T15:33:28.1350000Z</dcterms:modified>
</coreProperties>
</file>